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0"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86FC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3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28-Jul-26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28-Jul-26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28-Jul-26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28-Jul-26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28-Jul-26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28-Jul-26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28-Jul-26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28-Jul-26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28-Jul-26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28-Jul-26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28-Jul-26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28-Jul-26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698091" y="529139"/>
            <a:ext cx="10332720" cy="1600438"/>
          </a:xfrm>
          <a:prstGeom prst="rect">
            <a:avLst/>
          </a:prstGeom>
          <a:noFill/>
        </p:spPr>
        <p:txBody>
          <a:bodyPr wrap="square">
            <a:spAutoFit/>
          </a:bodyPr>
          <a:lstStyle/>
          <a:p>
            <a:pPr>
              <a:defRPr sz="3600" b="1">
                <a:solidFill>
                  <a:srgbClr val="FFFFFF"/>
                </a:solidFill>
                <a:latin typeface="Segoe UI"/>
              </a:defRPr>
            </a:pPr>
            <a:r>
              <a:rPr dirty="0"/>
              <a:t>INTERNATIONAL FOOTBALL MATCH ANALYSIS</a:t>
            </a:r>
          </a:p>
          <a:p>
            <a:pPr>
              <a:defRPr sz="2000">
                <a:solidFill>
                  <a:srgbClr val="10B981"/>
                </a:solidFill>
                <a:latin typeface="Segoe UI"/>
              </a:defRPr>
            </a:pPr>
            <a:r>
              <a:rPr sz="2400" dirty="0"/>
              <a:t>Exploratory Data Analysis &amp; Executive Insights (150+ Years)</a:t>
            </a:r>
          </a:p>
          <a:p>
            <a:br>
              <a:rPr dirty="0"/>
            </a:br>
            <a:r>
              <a:rPr sz="2000" b="1" dirty="0">
                <a:solidFill>
                  <a:schemeClr val="accent6">
                    <a:lumMod val="60000"/>
                    <a:lumOff val="40000"/>
                  </a:schemeClr>
                </a:solidFill>
              </a:rPr>
              <a:t>Hareesh Patel </a:t>
            </a:r>
            <a:r>
              <a:rPr sz="2000" dirty="0">
                <a:solidFill>
                  <a:schemeClr val="accent6">
                    <a:lumMod val="60000"/>
                    <a:lumOff val="40000"/>
                  </a:schemeClr>
                </a:solidFill>
              </a:rPr>
              <a:t>| MBA Graduate | Data Analytics Intern</a:t>
            </a:r>
          </a:p>
        </p:txBody>
      </p:sp>
      <p:sp>
        <p:nvSpPr>
          <p:cNvPr id="3" name="TextBox 2">
            <a:extLst>
              <a:ext uri="{FF2B5EF4-FFF2-40B4-BE49-F238E27FC236}">
                <a16:creationId xmlns:a16="http://schemas.microsoft.com/office/drawing/2014/main" id="{57688C5C-AA05-F722-401D-F0924D6AD8A5}"/>
              </a:ext>
            </a:extLst>
          </p:cNvPr>
          <p:cNvSpPr txBox="1"/>
          <p:nvPr/>
        </p:nvSpPr>
        <p:spPr>
          <a:xfrm>
            <a:off x="698091" y="2556387"/>
            <a:ext cx="3835217" cy="1323439"/>
          </a:xfrm>
          <a:prstGeom prst="rect">
            <a:avLst/>
          </a:prstGeom>
          <a:noFill/>
        </p:spPr>
        <p:txBody>
          <a:bodyPr wrap="none" rtlCol="0">
            <a:spAutoFit/>
          </a:bodyPr>
          <a:lstStyle/>
          <a:p>
            <a:r>
              <a:rPr lang="en-IN" sz="2000" b="1" dirty="0">
                <a:solidFill>
                  <a:schemeClr val="bg1"/>
                </a:solidFill>
              </a:rPr>
              <a:t>Dataset Used:</a:t>
            </a:r>
          </a:p>
          <a:p>
            <a:r>
              <a:rPr lang="en-IN" sz="2000" dirty="0">
                <a:solidFill>
                  <a:schemeClr val="bg1"/>
                </a:solidFill>
              </a:rPr>
              <a:t>      </a:t>
            </a:r>
            <a:r>
              <a:rPr lang="en-US" sz="2000" dirty="0">
                <a:solidFill>
                  <a:schemeClr val="bg1"/>
                </a:solidFill>
              </a:rPr>
              <a:t>• </a:t>
            </a:r>
            <a:r>
              <a:rPr lang="en-IN" sz="2000" dirty="0">
                <a:solidFill>
                  <a:schemeClr val="bg1"/>
                </a:solidFill>
              </a:rPr>
              <a:t>International Football </a:t>
            </a:r>
            <a:r>
              <a:rPr lang="en-IN" sz="2000" b="1" i="1" dirty="0">
                <a:solidFill>
                  <a:schemeClr val="bg1"/>
                </a:solidFill>
              </a:rPr>
              <a:t>Results</a:t>
            </a:r>
            <a:r>
              <a:rPr lang="en-IN" sz="2000" dirty="0">
                <a:solidFill>
                  <a:schemeClr val="bg1"/>
                </a:solidFill>
              </a:rPr>
              <a:t> </a:t>
            </a:r>
          </a:p>
          <a:p>
            <a:r>
              <a:rPr lang="en-IN" sz="2000" dirty="0">
                <a:solidFill>
                  <a:schemeClr val="bg1"/>
                </a:solidFill>
              </a:rPr>
              <a:t>      </a:t>
            </a:r>
            <a:r>
              <a:rPr lang="en-US" sz="2000" dirty="0">
                <a:solidFill>
                  <a:schemeClr val="bg1"/>
                </a:solidFill>
              </a:rPr>
              <a:t>• </a:t>
            </a:r>
            <a:r>
              <a:rPr lang="en-IN" sz="2000" b="1" i="1" dirty="0">
                <a:solidFill>
                  <a:schemeClr val="bg1"/>
                </a:solidFill>
              </a:rPr>
              <a:t>Goalscorers </a:t>
            </a:r>
          </a:p>
          <a:p>
            <a:r>
              <a:rPr lang="en-IN" sz="2000" dirty="0">
                <a:solidFill>
                  <a:schemeClr val="bg1"/>
                </a:solidFill>
              </a:rPr>
              <a:t>      </a:t>
            </a:r>
            <a:r>
              <a:rPr lang="en-US" sz="2000" dirty="0">
                <a:solidFill>
                  <a:schemeClr val="bg1"/>
                </a:solidFill>
              </a:rPr>
              <a:t>•</a:t>
            </a:r>
            <a:r>
              <a:rPr lang="en-IN" sz="2000" dirty="0">
                <a:solidFill>
                  <a:schemeClr val="bg1"/>
                </a:solidFill>
              </a:rPr>
              <a:t>  Penalty </a:t>
            </a:r>
            <a:r>
              <a:rPr lang="en-IN" sz="2000" b="1" i="1" dirty="0">
                <a:solidFill>
                  <a:schemeClr val="bg1"/>
                </a:solidFill>
              </a:rPr>
              <a:t>Shootouts</a:t>
            </a:r>
            <a:endParaRPr lang="en-IN" sz="2000" b="1" i="1" dirty="0"/>
          </a:p>
        </p:txBody>
      </p:sp>
      <p:sp>
        <p:nvSpPr>
          <p:cNvPr id="4" name="TextBox 3">
            <a:extLst>
              <a:ext uri="{FF2B5EF4-FFF2-40B4-BE49-F238E27FC236}">
                <a16:creationId xmlns:a16="http://schemas.microsoft.com/office/drawing/2014/main" id="{BF0CB9B3-27B6-5086-9103-D24CAF992D5A}"/>
              </a:ext>
            </a:extLst>
          </p:cNvPr>
          <p:cNvSpPr txBox="1"/>
          <p:nvPr/>
        </p:nvSpPr>
        <p:spPr>
          <a:xfrm>
            <a:off x="9596283" y="2710275"/>
            <a:ext cx="1775935" cy="2339102"/>
          </a:xfrm>
          <a:prstGeom prst="rect">
            <a:avLst/>
          </a:prstGeom>
          <a:noFill/>
        </p:spPr>
        <p:txBody>
          <a:bodyPr wrap="none" rtlCol="0">
            <a:spAutoFit/>
          </a:bodyPr>
          <a:lstStyle/>
          <a:p>
            <a:r>
              <a:rPr lang="en-IN" sz="2000" b="1" dirty="0">
                <a:solidFill>
                  <a:schemeClr val="bg1"/>
                </a:solidFill>
              </a:rPr>
              <a:t>Tools Used</a:t>
            </a:r>
            <a:r>
              <a:rPr lang="en-IN" b="1" dirty="0">
                <a:solidFill>
                  <a:schemeClr val="bg1"/>
                </a:solidFill>
              </a:rPr>
              <a:t>:</a:t>
            </a:r>
            <a:endParaRPr lang="en-IN" dirty="0">
              <a:solidFill>
                <a:schemeClr val="bg1"/>
              </a:solidFill>
            </a:endParaRPr>
          </a:p>
          <a:p>
            <a:r>
              <a:rPr lang="en-US" dirty="0">
                <a:solidFill>
                  <a:schemeClr val="bg1"/>
                </a:solidFill>
              </a:rPr>
              <a:t>      </a:t>
            </a:r>
            <a:r>
              <a:rPr lang="en-IN" dirty="0">
                <a:solidFill>
                  <a:schemeClr val="bg1"/>
                </a:solidFill>
              </a:rPr>
              <a:t>✔ Python </a:t>
            </a:r>
          </a:p>
          <a:p>
            <a:r>
              <a:rPr lang="en-US" dirty="0">
                <a:solidFill>
                  <a:schemeClr val="bg1"/>
                </a:solidFill>
              </a:rPr>
              <a:t>      </a:t>
            </a:r>
            <a:r>
              <a:rPr lang="en-IN" dirty="0">
                <a:solidFill>
                  <a:schemeClr val="bg1"/>
                </a:solidFill>
              </a:rPr>
              <a:t>✔ Pandas </a:t>
            </a:r>
          </a:p>
          <a:p>
            <a:r>
              <a:rPr lang="en-US" dirty="0">
                <a:solidFill>
                  <a:schemeClr val="bg1"/>
                </a:solidFill>
              </a:rPr>
              <a:t>      </a:t>
            </a:r>
            <a:r>
              <a:rPr lang="en-IN" dirty="0">
                <a:solidFill>
                  <a:schemeClr val="bg1"/>
                </a:solidFill>
              </a:rPr>
              <a:t>✔</a:t>
            </a:r>
            <a:r>
              <a:rPr lang="en-US" dirty="0">
                <a:solidFill>
                  <a:schemeClr val="bg1"/>
                </a:solidFill>
              </a:rPr>
              <a:t> </a:t>
            </a:r>
            <a:r>
              <a:rPr lang="en-IN" dirty="0">
                <a:solidFill>
                  <a:schemeClr val="bg1"/>
                </a:solidFill>
              </a:rPr>
              <a:t>NumPy </a:t>
            </a:r>
          </a:p>
          <a:p>
            <a:r>
              <a:rPr lang="en-US" dirty="0">
                <a:solidFill>
                  <a:schemeClr val="bg1"/>
                </a:solidFill>
              </a:rPr>
              <a:t>      </a:t>
            </a:r>
            <a:r>
              <a:rPr lang="en-IN" dirty="0">
                <a:solidFill>
                  <a:schemeClr val="bg1"/>
                </a:solidFill>
              </a:rPr>
              <a:t>✔</a:t>
            </a:r>
            <a:r>
              <a:rPr lang="en-IN" dirty="0"/>
              <a:t> </a:t>
            </a:r>
            <a:r>
              <a:rPr lang="en-IN" dirty="0">
                <a:solidFill>
                  <a:schemeClr val="bg1"/>
                </a:solidFill>
              </a:rPr>
              <a:t>Matplotlib </a:t>
            </a:r>
          </a:p>
          <a:p>
            <a:r>
              <a:rPr lang="en-US" dirty="0">
                <a:solidFill>
                  <a:schemeClr val="bg1"/>
                </a:solidFill>
              </a:rPr>
              <a:t>       </a:t>
            </a:r>
            <a:r>
              <a:rPr lang="en-IN" dirty="0">
                <a:solidFill>
                  <a:schemeClr val="bg1"/>
                </a:solidFill>
              </a:rPr>
              <a:t>✔</a:t>
            </a:r>
            <a:r>
              <a:rPr lang="en-US" dirty="0">
                <a:solidFill>
                  <a:schemeClr val="bg1"/>
                </a:solidFill>
              </a:rPr>
              <a:t> </a:t>
            </a:r>
            <a:r>
              <a:rPr lang="en-IN" dirty="0">
                <a:solidFill>
                  <a:schemeClr val="bg1"/>
                </a:solidFill>
              </a:rPr>
              <a:t>Seaborn </a:t>
            </a:r>
          </a:p>
          <a:p>
            <a:r>
              <a:rPr lang="en-US" dirty="0">
                <a:solidFill>
                  <a:schemeClr val="bg1"/>
                </a:solidFill>
              </a:rPr>
              <a:t>       </a:t>
            </a:r>
            <a:r>
              <a:rPr lang="en-IN" dirty="0">
                <a:solidFill>
                  <a:schemeClr val="bg1"/>
                </a:solidFill>
              </a:rPr>
              <a:t>✔ Plotly</a:t>
            </a:r>
          </a:p>
          <a:p>
            <a:endParaRPr lang="en-IN" dirty="0"/>
          </a:p>
        </p:txBody>
      </p:sp>
      <p:sp>
        <p:nvSpPr>
          <p:cNvPr id="5" name="TextBox 4">
            <a:extLst>
              <a:ext uri="{FF2B5EF4-FFF2-40B4-BE49-F238E27FC236}">
                <a16:creationId xmlns:a16="http://schemas.microsoft.com/office/drawing/2014/main" id="{B7691CF7-BD96-582D-777F-35B8CCCBB2CE}"/>
              </a:ext>
            </a:extLst>
          </p:cNvPr>
          <p:cNvSpPr txBox="1"/>
          <p:nvPr/>
        </p:nvSpPr>
        <p:spPr>
          <a:xfrm>
            <a:off x="698090" y="4737523"/>
            <a:ext cx="10674127" cy="1785104"/>
          </a:xfrm>
          <a:prstGeom prst="rect">
            <a:avLst/>
          </a:prstGeom>
          <a:noFill/>
        </p:spPr>
        <p:txBody>
          <a:bodyPr wrap="square" rtlCol="0">
            <a:spAutoFit/>
          </a:bodyPr>
          <a:lstStyle/>
          <a:p>
            <a:r>
              <a:rPr lang="en-IN" sz="2000" b="1" dirty="0">
                <a:solidFill>
                  <a:schemeClr val="bg1"/>
                </a:solidFill>
              </a:rPr>
              <a:t>Project Overview</a:t>
            </a:r>
            <a:r>
              <a:rPr lang="en-IN" b="1" dirty="0">
                <a:solidFill>
                  <a:schemeClr val="bg1"/>
                </a:solidFill>
              </a:rPr>
              <a:t>:</a:t>
            </a:r>
          </a:p>
          <a:p>
            <a:r>
              <a:rPr lang="en-IN" dirty="0"/>
              <a:t>                                                                                                                                                                                                                                                                                                                   </a:t>
            </a:r>
            <a:r>
              <a:rPr lang="en-IN" dirty="0">
                <a:solidFill>
                  <a:schemeClr val="bg1"/>
                </a:solidFill>
              </a:rPr>
              <a:t>This project explores more than </a:t>
            </a:r>
            <a:r>
              <a:rPr lang="en-IN" b="1" dirty="0">
                <a:solidFill>
                  <a:schemeClr val="bg1"/>
                </a:solidFill>
              </a:rPr>
              <a:t>150 years</a:t>
            </a:r>
            <a:r>
              <a:rPr lang="en-IN" dirty="0">
                <a:solidFill>
                  <a:schemeClr val="bg1"/>
                </a:solidFill>
              </a:rPr>
              <a:t> of international football history by analyzing team performances, tournament statistics, goal-scoring trends, host nations, and penalty shootouts. The analysis transforms historical football data into meaningful insights through statistical exploration and interactive visualizations.</a:t>
            </a:r>
          </a:p>
          <a:p>
            <a:pPr algn="ct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31520" y="365760"/>
            <a:ext cx="548640" cy="4572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515600" cy="569387"/>
          </a:xfrm>
          <a:prstGeom prst="rect">
            <a:avLst/>
          </a:prstGeom>
          <a:noFill/>
        </p:spPr>
        <p:txBody>
          <a:bodyPr wrap="square">
            <a:spAutoFit/>
          </a:bodyPr>
          <a:lstStyle/>
          <a:p>
            <a:pPr>
              <a:defRPr sz="900" b="1">
                <a:solidFill>
                  <a:srgbClr val="10B981"/>
                </a:solidFill>
                <a:latin typeface="Segoe UI"/>
              </a:defRPr>
            </a:pPr>
            <a:endParaRPr dirty="0"/>
          </a:p>
          <a:p>
            <a:pPr>
              <a:defRPr sz="2200" b="1">
                <a:solidFill>
                  <a:srgbClr val="0A192F"/>
                </a:solidFill>
                <a:latin typeface="Segoe UI"/>
              </a:defRPr>
            </a:pPr>
            <a:r>
              <a:rPr dirty="0"/>
              <a:t>Project O</a:t>
            </a:r>
            <a:r>
              <a:rPr lang="en-US" dirty="0"/>
              <a:t>bjectives</a:t>
            </a:r>
            <a:endParaRPr dirty="0"/>
          </a:p>
        </p:txBody>
      </p:sp>
      <p:sp>
        <p:nvSpPr>
          <p:cNvPr id="4" name="TextBox 3"/>
          <p:cNvSpPr txBox="1"/>
          <p:nvPr/>
        </p:nvSpPr>
        <p:spPr>
          <a:xfrm>
            <a:off x="579121" y="1296120"/>
            <a:ext cx="6539434" cy="5586145"/>
          </a:xfrm>
          <a:prstGeom prst="rect">
            <a:avLst/>
          </a:prstGeom>
          <a:noFill/>
        </p:spPr>
        <p:txBody>
          <a:bodyPr wrap="square">
            <a:spAutoFit/>
          </a:bodyPr>
          <a:lstStyle/>
          <a:p>
            <a:r>
              <a:rPr lang="en-IN" sz="1700" dirty="0"/>
              <a:t>•Analyze historical international football data to uncover long-term performance trends.</a:t>
            </a:r>
          </a:p>
          <a:p>
            <a:r>
              <a:rPr lang="en-IN" sz="1700" dirty="0"/>
              <a:t>• Evaluate team dominance, winning efficiency, and performance consistency across international competitions.</a:t>
            </a:r>
          </a:p>
          <a:p>
            <a:r>
              <a:rPr lang="en-IN" sz="1700" dirty="0"/>
              <a:t>• Identify top-performing nations, international goal scorers, and attacking efficiency</a:t>
            </a:r>
          </a:p>
          <a:p>
            <a:r>
              <a:rPr lang="en-IN" sz="1700" dirty="0"/>
              <a:t>• Compare tournaments based on participation trends, goal-scoring behavior, and competitiveness.</a:t>
            </a:r>
          </a:p>
          <a:p>
            <a:r>
              <a:rPr lang="en-IN" sz="1700" dirty="0"/>
              <a:t>• Assess the contribution of normal goals, penalty goals, and own goals to match outcomes.</a:t>
            </a:r>
          </a:p>
          <a:p>
            <a:r>
              <a:rPr lang="en-IN" sz="1700" dirty="0"/>
              <a:t>• Examine goal differentials and scoring efficiency across teams and tournaments.</a:t>
            </a:r>
          </a:p>
          <a:p>
            <a:r>
              <a:rPr lang="en-IN" sz="1700" dirty="0"/>
              <a:t>• Analyze host nation influence and the distribution of major international tournaments.</a:t>
            </a:r>
          </a:p>
          <a:p>
            <a:r>
              <a:rPr lang="en-IN" sz="1700" dirty="0"/>
              <a:t>• Investigate penalty shootout success rates in high-pressure knockout competitions.</a:t>
            </a:r>
          </a:p>
          <a:p>
            <a:r>
              <a:rPr lang="en-IN" sz="1700" dirty="0"/>
              <a:t>• Explore the evolution of international football through historical match and tournament analysis.</a:t>
            </a:r>
          </a:p>
          <a:p>
            <a:r>
              <a:rPr lang="en-IN" sz="1700" dirty="0"/>
              <a:t>• Generate data-driven insights using statistical analysis and advanced data visualization techniques. </a:t>
            </a:r>
          </a:p>
          <a:p>
            <a:pPr>
              <a:spcAft>
                <a:spcPts val="1400"/>
              </a:spcAft>
              <a:defRPr sz="1300">
                <a:solidFill>
                  <a:srgbClr val="1E293B"/>
                </a:solidFill>
                <a:latin typeface="Segoe UI"/>
              </a:defRPr>
            </a:pPr>
            <a:endParaRPr sz="1700" dirty="0"/>
          </a:p>
        </p:txBody>
      </p:sp>
      <p:pic>
        <p:nvPicPr>
          <p:cNvPr id="7" name="Picture 6">
            <a:extLst>
              <a:ext uri="{FF2B5EF4-FFF2-40B4-BE49-F238E27FC236}">
                <a16:creationId xmlns:a16="http://schemas.microsoft.com/office/drawing/2014/main" id="{ED63B4C0-76C1-7BAC-F52B-EB0F96164DBA}"/>
              </a:ext>
            </a:extLst>
          </p:cNvPr>
          <p:cNvPicPr>
            <a:picLocks noChangeAspect="1"/>
          </p:cNvPicPr>
          <p:nvPr/>
        </p:nvPicPr>
        <p:blipFill>
          <a:blip r:embed="rId2">
            <a:alphaModFix amt="90000"/>
          </a:blip>
          <a:stretch>
            <a:fillRect/>
          </a:stretch>
        </p:blipFill>
        <p:spPr>
          <a:xfrm>
            <a:off x="7271938" y="1595284"/>
            <a:ext cx="4454012" cy="36674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91000"/>
          </a:srgbClr>
        </a:solidFill>
        <a:effectLst/>
      </p:bgPr>
    </p:bg>
    <p:spTree>
      <p:nvGrpSpPr>
        <p:cNvPr id="1" name=""/>
        <p:cNvGrpSpPr/>
        <p:nvPr/>
      </p:nvGrpSpPr>
      <p:grpSpPr>
        <a:xfrm>
          <a:off x="0" y="0"/>
          <a:ext cx="0" cy="0"/>
          <a:chOff x="0" y="0"/>
          <a:chExt cx="0" cy="0"/>
        </a:xfrm>
      </p:grpSpPr>
      <p:sp>
        <p:nvSpPr>
          <p:cNvPr id="3" name="TextBox 2"/>
          <p:cNvSpPr txBox="1"/>
          <p:nvPr/>
        </p:nvSpPr>
        <p:spPr>
          <a:xfrm>
            <a:off x="2566219" y="201561"/>
            <a:ext cx="6937641" cy="1077218"/>
          </a:xfrm>
          <a:prstGeom prst="rect">
            <a:avLst/>
          </a:prstGeom>
          <a:noFill/>
        </p:spPr>
        <p:txBody>
          <a:bodyPr wrap="square">
            <a:spAutoFit/>
          </a:bodyPr>
          <a:lstStyle/>
          <a:p>
            <a:pPr>
              <a:defRPr sz="900" b="1">
                <a:solidFill>
                  <a:srgbClr val="10B981"/>
                </a:solidFill>
                <a:latin typeface="Segoe UI"/>
              </a:defRPr>
            </a:pPr>
            <a:r>
              <a:rPr lang="en-IN" sz="3200" b="1" dirty="0"/>
              <a:t> </a:t>
            </a:r>
            <a:r>
              <a:rPr lang="en-IN" sz="3200" b="1" dirty="0">
                <a:solidFill>
                  <a:srgbClr val="00B050"/>
                </a:solidFill>
              </a:rPr>
              <a:t>Dataset Analysis &amp; Integration</a:t>
            </a:r>
          </a:p>
          <a:p>
            <a:pPr>
              <a:defRPr sz="900" b="1">
                <a:solidFill>
                  <a:srgbClr val="10B981"/>
                </a:solidFill>
                <a:latin typeface="Segoe UI"/>
              </a:defRPr>
            </a:pPr>
            <a:endParaRPr sz="3200" dirty="0"/>
          </a:p>
        </p:txBody>
      </p:sp>
      <p:sp>
        <p:nvSpPr>
          <p:cNvPr id="4" name="TextBox 3"/>
          <p:cNvSpPr txBox="1"/>
          <p:nvPr/>
        </p:nvSpPr>
        <p:spPr>
          <a:xfrm>
            <a:off x="693175" y="1209791"/>
            <a:ext cx="7271938" cy="2231380"/>
          </a:xfrm>
          <a:prstGeom prst="rect">
            <a:avLst/>
          </a:prstGeom>
          <a:noFill/>
        </p:spPr>
        <p:txBody>
          <a:bodyPr wrap="square">
            <a:spAutoFit/>
          </a:bodyPr>
          <a:lstStyle/>
          <a:p>
            <a:r>
              <a:rPr lang="en-IN" b="1" dirty="0"/>
              <a:t>📊 Results Dataset</a:t>
            </a:r>
          </a:p>
          <a:p>
            <a:r>
              <a:rPr lang="en-IN" dirty="0"/>
              <a:t>Match outcomes, team performance, tournament trends, and scoring patterns. </a:t>
            </a:r>
          </a:p>
          <a:p>
            <a:r>
              <a:rPr lang="en-IN" b="1" dirty="0"/>
              <a:t>⚽ Goalscorers Dataset</a:t>
            </a:r>
          </a:p>
          <a:p>
            <a:r>
              <a:rPr lang="en-IN" dirty="0"/>
              <a:t>Player performance, goal contributions, and goal type analysis. </a:t>
            </a:r>
          </a:p>
          <a:p>
            <a:r>
              <a:rPr lang="en-IN" b="1" dirty="0"/>
              <a:t>🥅 Shootouts Dataset</a:t>
            </a:r>
          </a:p>
          <a:p>
            <a:r>
              <a:rPr lang="en-IN" dirty="0"/>
              <a:t>Penalty shootout outcomes and tournament competitiveness</a:t>
            </a:r>
          </a:p>
          <a:p>
            <a:pPr>
              <a:spcAft>
                <a:spcPts val="1400"/>
              </a:spcAft>
              <a:defRPr sz="1300">
                <a:solidFill>
                  <a:srgbClr val="1E293B"/>
                </a:solidFill>
                <a:latin typeface="Segoe UI"/>
              </a:defRPr>
            </a:pPr>
            <a:endParaRPr dirty="0"/>
          </a:p>
        </p:txBody>
      </p:sp>
      <p:sp>
        <p:nvSpPr>
          <p:cNvPr id="11" name="TextBox 10">
            <a:extLst>
              <a:ext uri="{FF2B5EF4-FFF2-40B4-BE49-F238E27FC236}">
                <a16:creationId xmlns:a16="http://schemas.microsoft.com/office/drawing/2014/main" id="{CA8BED1A-A572-1E31-FCB5-3FA569988A15}"/>
              </a:ext>
            </a:extLst>
          </p:cNvPr>
          <p:cNvSpPr txBox="1"/>
          <p:nvPr/>
        </p:nvSpPr>
        <p:spPr>
          <a:xfrm>
            <a:off x="693175" y="3890271"/>
            <a:ext cx="9438968" cy="1477328"/>
          </a:xfrm>
          <a:prstGeom prst="rect">
            <a:avLst/>
          </a:prstGeom>
          <a:noFill/>
        </p:spPr>
        <p:txBody>
          <a:bodyPr wrap="square">
            <a:spAutoFit/>
          </a:bodyPr>
          <a:lstStyle/>
          <a:p>
            <a:pPr>
              <a:buNone/>
            </a:pPr>
            <a:r>
              <a:rPr lang="en-IN" b="1" dirty="0"/>
              <a:t>🔗 Data Integration</a:t>
            </a:r>
          </a:p>
          <a:p>
            <a:pPr>
              <a:buNone/>
            </a:pPr>
            <a:endParaRPr lang="en-IN" b="1" dirty="0"/>
          </a:p>
          <a:p>
            <a:pPr>
              <a:buNone/>
            </a:pPr>
            <a:r>
              <a:rPr lang="en-IN" b="1" dirty="0"/>
              <a:t>Results + Goalscorers             </a:t>
            </a:r>
            <a:r>
              <a:rPr lang="en-IN" dirty="0"/>
              <a:t>→                  Team Performance + Player Scoring Analysis</a:t>
            </a:r>
          </a:p>
          <a:p>
            <a:pPr>
              <a:buNone/>
            </a:pPr>
            <a:r>
              <a:rPr lang="en-IN" b="1" dirty="0"/>
              <a:t>Results + Shootouts               </a:t>
            </a:r>
            <a:r>
              <a:rPr lang="en-IN" dirty="0"/>
              <a:t>→                   Knockout Performance + Tournament Competitiveness</a:t>
            </a:r>
          </a:p>
          <a:p>
            <a:pPr>
              <a:buNone/>
            </a:pPr>
            <a:r>
              <a:rPr lang="en-IN" b="1" dirty="0"/>
              <a:t>Goalscorers + Shootouts       </a:t>
            </a:r>
            <a:r>
              <a:rPr lang="en-IN" dirty="0"/>
              <a:t>→                  Top Scorers in High-Pressure Matches</a:t>
            </a:r>
          </a:p>
        </p:txBody>
      </p:sp>
      <p:sp>
        <p:nvSpPr>
          <p:cNvPr id="12" name="TextBox 11">
            <a:extLst>
              <a:ext uri="{FF2B5EF4-FFF2-40B4-BE49-F238E27FC236}">
                <a16:creationId xmlns:a16="http://schemas.microsoft.com/office/drawing/2014/main" id="{0EA7B59A-9F88-58A0-DF26-6B0F7D7CCD91}"/>
              </a:ext>
            </a:extLst>
          </p:cNvPr>
          <p:cNvSpPr txBox="1"/>
          <p:nvPr/>
        </p:nvSpPr>
        <p:spPr>
          <a:xfrm>
            <a:off x="693175" y="5525727"/>
            <a:ext cx="9847005" cy="923330"/>
          </a:xfrm>
          <a:prstGeom prst="rect">
            <a:avLst/>
          </a:prstGeom>
          <a:noFill/>
        </p:spPr>
        <p:txBody>
          <a:bodyPr wrap="square" rtlCol="0">
            <a:spAutoFit/>
          </a:bodyPr>
          <a:lstStyle/>
          <a:p>
            <a:r>
              <a:rPr lang="en-IN" dirty="0"/>
              <a:t>Key Outcome</a:t>
            </a:r>
          </a:p>
          <a:p>
            <a:r>
              <a:rPr lang="en-IN" dirty="0"/>
              <a:t>Combining all three datasets enabled comprehensive football analytics by linking match results, player performance, and penalty shootout outcomes into a unified analytical framework.</a:t>
            </a:r>
          </a:p>
        </p:txBody>
      </p:sp>
      <p:cxnSp>
        <p:nvCxnSpPr>
          <p:cNvPr id="14" name="Straight Connector 13">
            <a:extLst>
              <a:ext uri="{FF2B5EF4-FFF2-40B4-BE49-F238E27FC236}">
                <a16:creationId xmlns:a16="http://schemas.microsoft.com/office/drawing/2014/main" id="{7FDCD8FC-4148-2343-951A-8B9F76E3757A}"/>
              </a:ext>
            </a:extLst>
          </p:cNvPr>
          <p:cNvCxnSpPr>
            <a:cxnSpLocks/>
          </p:cNvCxnSpPr>
          <p:nvPr/>
        </p:nvCxnSpPr>
        <p:spPr>
          <a:xfrm>
            <a:off x="865239" y="3598487"/>
            <a:ext cx="6941574" cy="0"/>
          </a:xfrm>
          <a:prstGeom prst="line">
            <a:avLst/>
          </a:prstGeom>
          <a:ln w="12700">
            <a:solidFill>
              <a:schemeClr val="bg1">
                <a:lumMod val="50000"/>
                <a:alpha val="5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230075" y="534107"/>
            <a:ext cx="5639292" cy="830997"/>
          </a:xfrm>
          <a:prstGeom prst="rect">
            <a:avLst/>
          </a:prstGeom>
          <a:noFill/>
        </p:spPr>
        <p:txBody>
          <a:bodyPr wrap="square">
            <a:spAutoFit/>
          </a:bodyPr>
          <a:lstStyle/>
          <a:p>
            <a:pPr>
              <a:defRPr sz="900" b="1">
                <a:solidFill>
                  <a:srgbClr val="10B981"/>
                </a:solidFill>
                <a:latin typeface="Segoe UI"/>
              </a:defRPr>
            </a:pPr>
            <a:r>
              <a:rPr lang="en-US" sz="2000" b="1" dirty="0"/>
              <a:t>Top 10 tournaments by number of matches</a:t>
            </a:r>
            <a:endParaRPr lang="en-IN" sz="2000" b="1" dirty="0"/>
          </a:p>
          <a:p>
            <a:pPr>
              <a:defRPr sz="900" b="1">
                <a:solidFill>
                  <a:srgbClr val="10B981"/>
                </a:solidFill>
                <a:latin typeface="Segoe UI"/>
              </a:defRPr>
            </a:pPr>
            <a:endParaRPr sz="2800" dirty="0"/>
          </a:p>
        </p:txBody>
      </p:sp>
      <p:sp>
        <p:nvSpPr>
          <p:cNvPr id="4" name="TextBox 3"/>
          <p:cNvSpPr txBox="1"/>
          <p:nvPr/>
        </p:nvSpPr>
        <p:spPr>
          <a:xfrm>
            <a:off x="362563" y="5334506"/>
            <a:ext cx="10138289" cy="1523494"/>
          </a:xfrm>
          <a:prstGeom prst="rect">
            <a:avLst/>
          </a:prstGeom>
          <a:noFill/>
        </p:spPr>
        <p:txBody>
          <a:bodyPr wrap="square">
            <a:spAutoFit/>
          </a:bodyPr>
          <a:lstStyle/>
          <a:p>
            <a:r>
              <a:rPr lang="en-US" sz="1600" b="1" dirty="0"/>
              <a:t>Key Insights:</a:t>
            </a:r>
          </a:p>
          <a:p>
            <a:r>
              <a:rPr lang="en-US" sz="1600" dirty="0"/>
              <a:t>•</a:t>
            </a:r>
            <a:r>
              <a:rPr lang="en-IN" sz="1600" b="1" dirty="0"/>
              <a:t> Friendly matches</a:t>
            </a:r>
            <a:r>
              <a:rPr lang="en-IN" sz="1600" dirty="0"/>
              <a:t> dominate international football, accounting for the highest number of matches compared to competitive tournaments. </a:t>
            </a:r>
          </a:p>
          <a:p>
            <a:r>
              <a:rPr lang="en-US" sz="1600" dirty="0"/>
              <a:t>• </a:t>
            </a:r>
            <a:r>
              <a:rPr lang="en-IN" sz="1600" dirty="0"/>
              <a:t>Regional tournaments such as the </a:t>
            </a:r>
            <a:r>
              <a:rPr lang="en-IN" sz="1600" b="1" dirty="0"/>
              <a:t>UEFA European Championship Qualifiers</a:t>
            </a:r>
            <a:r>
              <a:rPr lang="en-IN" sz="1600" dirty="0"/>
              <a:t> and </a:t>
            </a:r>
            <a:r>
              <a:rPr lang="en-IN" sz="1600" b="1" dirty="0"/>
              <a:t>FIFA World Cup Qualifiers</a:t>
            </a:r>
            <a:r>
              <a:rPr lang="en-IN" sz="1600" dirty="0"/>
              <a:t> contribute significantly to the international match calendar due to their multi-stage qualification format.</a:t>
            </a:r>
          </a:p>
          <a:p>
            <a:pPr>
              <a:spcAft>
                <a:spcPts val="1400"/>
              </a:spcAft>
              <a:defRPr sz="1300">
                <a:solidFill>
                  <a:srgbClr val="1E293B"/>
                </a:solidFill>
                <a:latin typeface="Segoe UI"/>
              </a:defRPr>
            </a:pPr>
            <a:endParaRPr dirty="0"/>
          </a:p>
        </p:txBody>
      </p:sp>
      <p:pic>
        <p:nvPicPr>
          <p:cNvPr id="6" name="Content Placeholder 6">
            <a:extLst>
              <a:ext uri="{FF2B5EF4-FFF2-40B4-BE49-F238E27FC236}">
                <a16:creationId xmlns:a16="http://schemas.microsoft.com/office/drawing/2014/main" id="{35CFA701-2BE3-2ABC-7426-862672D932D6}"/>
              </a:ext>
            </a:extLst>
          </p:cNvPr>
          <p:cNvPicPr>
            <a:picLocks noChangeAspect="1"/>
          </p:cNvPicPr>
          <p:nvPr/>
        </p:nvPicPr>
        <p:blipFill>
          <a:blip r:embed="rId2"/>
          <a:stretch>
            <a:fillRect/>
          </a:stretch>
        </p:blipFill>
        <p:spPr>
          <a:xfrm>
            <a:off x="362563" y="934065"/>
            <a:ext cx="10138289" cy="440044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1124811" y="592128"/>
            <a:ext cx="10515600" cy="461665"/>
          </a:xfrm>
          <a:prstGeom prst="rect">
            <a:avLst/>
          </a:prstGeom>
          <a:noFill/>
        </p:spPr>
        <p:txBody>
          <a:bodyPr wrap="square">
            <a:spAutoFit/>
          </a:bodyPr>
          <a:lstStyle/>
          <a:p>
            <a:pPr>
              <a:defRPr sz="900" b="1">
                <a:solidFill>
                  <a:srgbClr val="10B981"/>
                </a:solidFill>
                <a:latin typeface="Segoe UI"/>
              </a:defRPr>
            </a:pPr>
            <a:r>
              <a:rPr lang="en-IN" sz="2400" b="1" dirty="0"/>
              <a:t>Matches Played Per Year</a:t>
            </a:r>
            <a:endParaRPr sz="2400" dirty="0"/>
          </a:p>
        </p:txBody>
      </p:sp>
      <p:sp>
        <p:nvSpPr>
          <p:cNvPr id="4" name="TextBox 3"/>
          <p:cNvSpPr txBox="1"/>
          <p:nvPr/>
        </p:nvSpPr>
        <p:spPr>
          <a:xfrm>
            <a:off x="599768" y="5165377"/>
            <a:ext cx="9252155" cy="1477328"/>
          </a:xfrm>
          <a:prstGeom prst="rect">
            <a:avLst/>
          </a:prstGeom>
          <a:noFill/>
        </p:spPr>
        <p:txBody>
          <a:bodyPr wrap="square">
            <a:spAutoFit/>
          </a:bodyPr>
          <a:lstStyle/>
          <a:p>
            <a:r>
              <a:rPr lang="en-US" b="1" dirty="0"/>
              <a:t>Key Insights:</a:t>
            </a:r>
            <a:endParaRPr lang="en-US" dirty="0"/>
          </a:p>
          <a:p>
            <a:r>
              <a:rPr lang="en-US" dirty="0"/>
              <a:t>•The number of international football matches has increased significantly over time. </a:t>
            </a:r>
          </a:p>
          <a:p>
            <a:r>
              <a:rPr lang="en-US" dirty="0"/>
              <a:t>•Earlier years had very few matches because international football had just begun.</a:t>
            </a:r>
          </a:p>
          <a:p>
            <a:r>
              <a:rPr lang="en-US" dirty="0"/>
              <a:t>•Modern football has a much higher number of matches due to more international tournaments, qualification  matches, and  friendly games.</a:t>
            </a:r>
            <a:endParaRPr lang="en-IN" dirty="0"/>
          </a:p>
        </p:txBody>
      </p:sp>
      <p:pic>
        <p:nvPicPr>
          <p:cNvPr id="6" name="Content Placeholder 6">
            <a:extLst>
              <a:ext uri="{FF2B5EF4-FFF2-40B4-BE49-F238E27FC236}">
                <a16:creationId xmlns:a16="http://schemas.microsoft.com/office/drawing/2014/main" id="{A55819FA-2EB7-1A28-8D46-8519255DAE2A}"/>
              </a:ext>
            </a:extLst>
          </p:cNvPr>
          <p:cNvPicPr>
            <a:picLocks noChangeAspect="1"/>
          </p:cNvPicPr>
          <p:nvPr/>
        </p:nvPicPr>
        <p:blipFill>
          <a:blip r:embed="rId2"/>
          <a:stretch>
            <a:fillRect/>
          </a:stretch>
        </p:blipFill>
        <p:spPr>
          <a:xfrm>
            <a:off x="196644" y="1234440"/>
            <a:ext cx="11621729" cy="393093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7391" y="211394"/>
            <a:ext cx="5708609" cy="400110"/>
          </a:xfrm>
          <a:prstGeom prst="rect">
            <a:avLst/>
          </a:prstGeom>
          <a:noFill/>
        </p:spPr>
        <p:txBody>
          <a:bodyPr wrap="square">
            <a:spAutoFit/>
          </a:bodyPr>
          <a:lstStyle/>
          <a:p>
            <a:pPr>
              <a:defRPr sz="900" b="1">
                <a:solidFill>
                  <a:srgbClr val="10B981"/>
                </a:solidFill>
                <a:latin typeface="Segoe UI"/>
              </a:defRPr>
            </a:pPr>
            <a:r>
              <a:rPr lang="en-US" sz="2000" b="1" dirty="0"/>
              <a:t>Top Teams: Matches Played vs Matches Won</a:t>
            </a:r>
            <a:endParaRPr sz="2000" dirty="0"/>
          </a:p>
        </p:txBody>
      </p:sp>
      <p:sp>
        <p:nvSpPr>
          <p:cNvPr id="4" name="TextBox 3"/>
          <p:cNvSpPr txBox="1"/>
          <p:nvPr/>
        </p:nvSpPr>
        <p:spPr>
          <a:xfrm>
            <a:off x="311684" y="5220929"/>
            <a:ext cx="11922842" cy="1815882"/>
          </a:xfrm>
          <a:prstGeom prst="rect">
            <a:avLst/>
          </a:prstGeom>
          <a:noFill/>
        </p:spPr>
        <p:txBody>
          <a:bodyPr wrap="square">
            <a:spAutoFit/>
          </a:bodyPr>
          <a:lstStyle/>
          <a:p>
            <a:r>
              <a:rPr lang="en-IN" sz="1400" dirty="0"/>
              <a:t>Key Insights:</a:t>
            </a:r>
          </a:p>
          <a:p>
            <a:r>
              <a:rPr lang="en-US" sz="1400" dirty="0"/>
              <a:t>• </a:t>
            </a:r>
            <a:r>
              <a:rPr lang="en-US" sz="1400" b="1" dirty="0"/>
              <a:t>Sweden</a:t>
            </a:r>
            <a:r>
              <a:rPr lang="en-US" sz="1400" dirty="0"/>
              <a:t> has the highest number of international appearances, while </a:t>
            </a:r>
            <a:r>
              <a:rPr lang="en-US" sz="1400" b="1" dirty="0"/>
              <a:t>Brazil</a:t>
            </a:r>
            <a:r>
              <a:rPr lang="en-US" sz="1400" dirty="0"/>
              <a:t> has established itself as the most successful nation by recording the highest number of victories. </a:t>
            </a:r>
            <a:r>
              <a:rPr lang="en-US" sz="1400" b="1" dirty="0"/>
              <a:t>Brazil's</a:t>
            </a:r>
            <a:r>
              <a:rPr lang="en-US" sz="1400" dirty="0"/>
              <a:t> superior win count underscores its sustained competitive excellence on the global stage.</a:t>
            </a:r>
          </a:p>
          <a:p>
            <a:r>
              <a:rPr lang="en-US" sz="1400" dirty="0"/>
              <a:t> • </a:t>
            </a:r>
            <a:r>
              <a:rPr lang="en-US" sz="1400" b="1" dirty="0"/>
              <a:t>Hungary </a:t>
            </a:r>
            <a:r>
              <a:rPr lang="en-US" sz="1400" dirty="0"/>
              <a:t>and </a:t>
            </a:r>
            <a:r>
              <a:rPr lang="en-US" sz="1400" b="1" dirty="0"/>
              <a:t>Uruguay's</a:t>
            </a:r>
            <a:r>
              <a:rPr lang="en-US" sz="1400" dirty="0"/>
              <a:t> high appearance count but comparatively lower win total suggests that longevity alone does not guarantee sustained success at the international level</a:t>
            </a:r>
          </a:p>
          <a:p>
            <a:r>
              <a:rPr lang="en-US" sz="1400" dirty="0"/>
              <a:t>• The rankings are dominated by traditional football powerhouses from </a:t>
            </a:r>
            <a:r>
              <a:rPr lang="en-US" sz="1400" b="1" dirty="0"/>
              <a:t>Europe</a:t>
            </a:r>
            <a:r>
              <a:rPr lang="en-US" sz="1400" dirty="0"/>
              <a:t> and </a:t>
            </a:r>
            <a:r>
              <a:rPr lang="en-US" sz="1400" b="1" dirty="0"/>
              <a:t>South America</a:t>
            </a:r>
            <a:r>
              <a:rPr lang="en-US" sz="1400" dirty="0"/>
              <a:t>, while the presence of South Korea and Mexico reflects their long-term regional dominance and consistent participation in major international competitions.</a:t>
            </a:r>
            <a:endParaRPr lang="en-IN" sz="1400" dirty="0"/>
          </a:p>
          <a:p>
            <a:pPr>
              <a:spcAft>
                <a:spcPts val="1400"/>
              </a:spcAft>
              <a:defRPr sz="1300">
                <a:solidFill>
                  <a:srgbClr val="1E293B"/>
                </a:solidFill>
                <a:latin typeface="Segoe UI"/>
              </a:defRPr>
            </a:pPr>
            <a:endParaRPr sz="1400" dirty="0"/>
          </a:p>
        </p:txBody>
      </p:sp>
      <p:pic>
        <p:nvPicPr>
          <p:cNvPr id="6" name="Content Placeholder 4">
            <a:extLst>
              <a:ext uri="{FF2B5EF4-FFF2-40B4-BE49-F238E27FC236}">
                <a16:creationId xmlns:a16="http://schemas.microsoft.com/office/drawing/2014/main" id="{C6F5A24C-CC2B-286B-3AEF-85BD9A51C5DE}"/>
              </a:ext>
            </a:extLst>
          </p:cNvPr>
          <p:cNvPicPr>
            <a:picLocks noChangeAspect="1"/>
          </p:cNvPicPr>
          <p:nvPr/>
        </p:nvPicPr>
        <p:blipFill>
          <a:blip r:embed="rId2"/>
          <a:stretch>
            <a:fillRect/>
          </a:stretch>
        </p:blipFill>
        <p:spPr>
          <a:xfrm>
            <a:off x="1375041" y="739324"/>
            <a:ext cx="9441918" cy="46094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652797" y="372331"/>
            <a:ext cx="4469744" cy="400110"/>
          </a:xfrm>
          <a:prstGeom prst="rect">
            <a:avLst/>
          </a:prstGeom>
          <a:noFill/>
        </p:spPr>
        <p:txBody>
          <a:bodyPr wrap="square">
            <a:spAutoFit/>
          </a:bodyPr>
          <a:lstStyle/>
          <a:p>
            <a:pPr>
              <a:defRPr sz="900" b="1">
                <a:solidFill>
                  <a:srgbClr val="10B981"/>
                </a:solidFill>
                <a:latin typeface="Segoe UI"/>
              </a:defRPr>
            </a:pPr>
            <a:r>
              <a:rPr lang="en-US" sz="2000" b="1" dirty="0">
                <a:solidFill>
                  <a:srgbClr val="00B050"/>
                </a:solidFill>
              </a:rPr>
              <a:t>Home Wins vs Away Wins vs Draws</a:t>
            </a:r>
            <a:endParaRPr sz="2000" dirty="0">
              <a:solidFill>
                <a:srgbClr val="00B050"/>
              </a:solidFill>
            </a:endParaRPr>
          </a:p>
        </p:txBody>
      </p:sp>
      <p:sp>
        <p:nvSpPr>
          <p:cNvPr id="4" name="TextBox 3"/>
          <p:cNvSpPr txBox="1"/>
          <p:nvPr/>
        </p:nvSpPr>
        <p:spPr>
          <a:xfrm>
            <a:off x="242120" y="4780508"/>
            <a:ext cx="5706396" cy="2323713"/>
          </a:xfrm>
          <a:prstGeom prst="rect">
            <a:avLst/>
          </a:prstGeom>
          <a:noFill/>
        </p:spPr>
        <p:txBody>
          <a:bodyPr wrap="square">
            <a:spAutoFit/>
          </a:bodyPr>
          <a:lstStyle/>
          <a:p>
            <a:r>
              <a:rPr lang="en-IN" sz="1600" dirty="0"/>
              <a:t>Observation:</a:t>
            </a:r>
          </a:p>
          <a:p>
            <a:r>
              <a:rPr lang="en-US" sz="1600" dirty="0"/>
              <a:t>This quantifiable "home advantage" proves that match environment directly dictates competitive outcomes. Factors like pitch familiarity, the absence of travel fatigue, and intense collective crowd support structurally boost home-team attacking efficiency while forcing visitors into lower-scoring, defensive structures</a:t>
            </a:r>
            <a:r>
              <a:rPr lang="en-US" dirty="0"/>
              <a:t>.</a:t>
            </a:r>
            <a:endParaRPr lang="en-IN" dirty="0"/>
          </a:p>
          <a:p>
            <a:endParaRPr lang="en-IN" dirty="0"/>
          </a:p>
          <a:p>
            <a:pPr>
              <a:spcAft>
                <a:spcPts val="1400"/>
              </a:spcAft>
              <a:defRPr sz="1300">
                <a:solidFill>
                  <a:srgbClr val="1E293B"/>
                </a:solidFill>
                <a:latin typeface="Segoe UI"/>
              </a:defRPr>
            </a:pPr>
            <a:endParaRPr dirty="0"/>
          </a:p>
        </p:txBody>
      </p:sp>
      <p:pic>
        <p:nvPicPr>
          <p:cNvPr id="7" name="Content Placeholder 8">
            <a:extLst>
              <a:ext uri="{FF2B5EF4-FFF2-40B4-BE49-F238E27FC236}">
                <a16:creationId xmlns:a16="http://schemas.microsoft.com/office/drawing/2014/main" id="{1F56C55E-916F-4627-670B-5D701BA2DA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797" y="1460679"/>
            <a:ext cx="4227872" cy="3101342"/>
          </a:xfrm>
          <a:prstGeom prst="rect">
            <a:avLst/>
          </a:prstGeom>
        </p:spPr>
      </p:pic>
      <p:pic>
        <p:nvPicPr>
          <p:cNvPr id="9" name="Content Placeholder 6">
            <a:extLst>
              <a:ext uri="{FF2B5EF4-FFF2-40B4-BE49-F238E27FC236}">
                <a16:creationId xmlns:a16="http://schemas.microsoft.com/office/drawing/2014/main" id="{BCE8727F-133C-EA9B-4E65-A2F5E8B1501D}"/>
              </a:ext>
            </a:extLst>
          </p:cNvPr>
          <p:cNvPicPr>
            <a:picLocks noChangeAspect="1"/>
          </p:cNvPicPr>
          <p:nvPr/>
        </p:nvPicPr>
        <p:blipFill>
          <a:blip r:embed="rId3"/>
          <a:stretch>
            <a:fillRect/>
          </a:stretch>
        </p:blipFill>
        <p:spPr>
          <a:xfrm>
            <a:off x="7148052" y="1268349"/>
            <a:ext cx="4025326" cy="3217665"/>
          </a:xfrm>
          <a:prstGeom prst="rect">
            <a:avLst/>
          </a:prstGeom>
        </p:spPr>
      </p:pic>
      <p:sp>
        <p:nvSpPr>
          <p:cNvPr id="11" name="TextBox 10">
            <a:extLst>
              <a:ext uri="{FF2B5EF4-FFF2-40B4-BE49-F238E27FC236}">
                <a16:creationId xmlns:a16="http://schemas.microsoft.com/office/drawing/2014/main" id="{F97D7801-84A1-469F-BCB9-CEC5993C4D1A}"/>
              </a:ext>
            </a:extLst>
          </p:cNvPr>
          <p:cNvSpPr txBox="1"/>
          <p:nvPr/>
        </p:nvSpPr>
        <p:spPr>
          <a:xfrm>
            <a:off x="6429560" y="326165"/>
            <a:ext cx="3959354" cy="430887"/>
          </a:xfrm>
          <a:prstGeom prst="rect">
            <a:avLst/>
          </a:prstGeom>
          <a:noFill/>
        </p:spPr>
        <p:txBody>
          <a:bodyPr wrap="none" rtlCol="0">
            <a:spAutoFit/>
          </a:bodyPr>
          <a:lstStyle/>
          <a:p>
            <a:r>
              <a:rPr lang="en-IN" sz="2200" b="1" dirty="0">
                <a:solidFill>
                  <a:srgbClr val="00B050"/>
                </a:solidFill>
              </a:rPr>
              <a:t>Neutral vs Non-Neutral Matches</a:t>
            </a:r>
            <a:endParaRPr lang="en-US" sz="2200" dirty="0">
              <a:solidFill>
                <a:srgbClr val="00B050"/>
              </a:solidFill>
            </a:endParaRPr>
          </a:p>
        </p:txBody>
      </p:sp>
      <p:sp>
        <p:nvSpPr>
          <p:cNvPr id="12" name="TextBox 11">
            <a:extLst>
              <a:ext uri="{FF2B5EF4-FFF2-40B4-BE49-F238E27FC236}">
                <a16:creationId xmlns:a16="http://schemas.microsoft.com/office/drawing/2014/main" id="{F3373745-43BD-12CE-E724-E18D6F72F1C5}"/>
              </a:ext>
            </a:extLst>
          </p:cNvPr>
          <p:cNvSpPr txBox="1"/>
          <p:nvPr/>
        </p:nvSpPr>
        <p:spPr>
          <a:xfrm>
            <a:off x="6540171" y="4741755"/>
            <a:ext cx="5409709" cy="1815882"/>
          </a:xfrm>
          <a:prstGeom prst="rect">
            <a:avLst/>
          </a:prstGeom>
          <a:noFill/>
        </p:spPr>
        <p:txBody>
          <a:bodyPr wrap="square" rtlCol="0">
            <a:spAutoFit/>
          </a:bodyPr>
          <a:lstStyle/>
          <a:p>
            <a:r>
              <a:rPr lang="en-IN" sz="1600" dirty="0"/>
              <a:t>Observation:</a:t>
            </a:r>
          </a:p>
          <a:p>
            <a:r>
              <a:rPr lang="en-US" sz="1600" dirty="0"/>
              <a:t>Most international football matches are played at non-neutral venues. Neutral venues account for a smaller proportion of the total matches. This indicates that international football is predominantly played at teams home venues rather than at neutral locations.</a:t>
            </a:r>
            <a:endParaRPr lang="en-IN" sz="1600" dirty="0"/>
          </a:p>
          <a:p>
            <a:endParaRPr lang="en-IN" sz="1600" dirty="0"/>
          </a:p>
        </p:txBody>
      </p:sp>
      <p:cxnSp>
        <p:nvCxnSpPr>
          <p:cNvPr id="14" name="Straight Connector 13">
            <a:extLst>
              <a:ext uri="{FF2B5EF4-FFF2-40B4-BE49-F238E27FC236}">
                <a16:creationId xmlns:a16="http://schemas.microsoft.com/office/drawing/2014/main" id="{69A4C2E0-9E7D-A7FE-9618-3B8EBBEF86FC}"/>
              </a:ext>
            </a:extLst>
          </p:cNvPr>
          <p:cNvCxnSpPr>
            <a:cxnSpLocks/>
          </p:cNvCxnSpPr>
          <p:nvPr/>
        </p:nvCxnSpPr>
        <p:spPr>
          <a:xfrm>
            <a:off x="5997677" y="1002890"/>
            <a:ext cx="0" cy="4070555"/>
          </a:xfrm>
          <a:prstGeom prst="line">
            <a:avLst/>
          </a:prstGeom>
          <a:ln w="6350">
            <a:solidFill>
              <a:schemeClr val="bg1">
                <a:lumMod val="50000"/>
                <a:alpha val="15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306764" y="4700118"/>
            <a:ext cx="5759737" cy="2169825"/>
          </a:xfrm>
          <a:prstGeom prst="rect">
            <a:avLst/>
          </a:prstGeom>
          <a:noFill/>
        </p:spPr>
        <p:txBody>
          <a:bodyPr wrap="square">
            <a:spAutoFit/>
          </a:bodyPr>
          <a:lstStyle/>
          <a:p>
            <a:r>
              <a:rPr lang="en-IN" sz="1500" dirty="0"/>
              <a:t>Key Insights:</a:t>
            </a:r>
          </a:p>
          <a:p>
            <a:r>
              <a:rPr lang="en-US" sz="1500" dirty="0"/>
              <a:t>• Most international matches have between </a:t>
            </a:r>
            <a:r>
              <a:rPr lang="en-US" sz="1500" b="1" dirty="0"/>
              <a:t>1 </a:t>
            </a:r>
            <a:r>
              <a:rPr lang="en-US" sz="1500" dirty="0"/>
              <a:t>and</a:t>
            </a:r>
            <a:r>
              <a:rPr lang="en-US" sz="1500" b="1" dirty="0"/>
              <a:t> 3 </a:t>
            </a:r>
            <a:r>
              <a:rPr lang="en-US" sz="1500" dirty="0"/>
              <a:t>total goals. The distribution is right-skewed, indicating that low-scoring matches are far more common than high-scoring ones, with extremely high-scoring matches are very rare acting as outliers. </a:t>
            </a:r>
          </a:p>
          <a:p>
            <a:r>
              <a:rPr lang="en-US" sz="1500" dirty="0"/>
              <a:t>• It shows that International football relies heavily on strict tactical discipline and defensive organization, making goals inherently difficult to score between evenly matched teams.</a:t>
            </a:r>
            <a:endParaRPr lang="en-IN" sz="1500" dirty="0"/>
          </a:p>
          <a:p>
            <a:pPr>
              <a:spcAft>
                <a:spcPts val="1400"/>
              </a:spcAft>
              <a:defRPr sz="1300">
                <a:solidFill>
                  <a:srgbClr val="1E293B"/>
                </a:solidFill>
                <a:latin typeface="Segoe UI"/>
              </a:defRPr>
            </a:pPr>
            <a:endParaRPr sz="1500" dirty="0"/>
          </a:p>
        </p:txBody>
      </p:sp>
      <p:pic>
        <p:nvPicPr>
          <p:cNvPr id="7" name="Content Placeholder 4">
            <a:extLst>
              <a:ext uri="{FF2B5EF4-FFF2-40B4-BE49-F238E27FC236}">
                <a16:creationId xmlns:a16="http://schemas.microsoft.com/office/drawing/2014/main" id="{34762B0A-5CA0-6FA4-BF50-AFEAE01E8654}"/>
              </a:ext>
            </a:extLst>
          </p:cNvPr>
          <p:cNvPicPr>
            <a:picLocks noChangeAspect="1"/>
          </p:cNvPicPr>
          <p:nvPr/>
        </p:nvPicPr>
        <p:blipFill>
          <a:blip r:embed="rId2"/>
          <a:stretch>
            <a:fillRect/>
          </a:stretch>
        </p:blipFill>
        <p:spPr>
          <a:xfrm>
            <a:off x="162619" y="511278"/>
            <a:ext cx="6639337" cy="4188840"/>
          </a:xfrm>
          <a:prstGeom prst="rect">
            <a:avLst/>
          </a:prstGeom>
        </p:spPr>
      </p:pic>
      <p:sp>
        <p:nvSpPr>
          <p:cNvPr id="8" name="TextBox 7">
            <a:extLst>
              <a:ext uri="{FF2B5EF4-FFF2-40B4-BE49-F238E27FC236}">
                <a16:creationId xmlns:a16="http://schemas.microsoft.com/office/drawing/2014/main" id="{E6E9FB46-F970-90FE-503D-B66BBE7DD825}"/>
              </a:ext>
            </a:extLst>
          </p:cNvPr>
          <p:cNvSpPr txBox="1"/>
          <p:nvPr/>
        </p:nvSpPr>
        <p:spPr>
          <a:xfrm>
            <a:off x="162619" y="141946"/>
            <a:ext cx="2945358" cy="369332"/>
          </a:xfrm>
          <a:prstGeom prst="rect">
            <a:avLst/>
          </a:prstGeom>
          <a:noFill/>
        </p:spPr>
        <p:txBody>
          <a:bodyPr wrap="none" rtlCol="0">
            <a:spAutoFit/>
          </a:bodyPr>
          <a:lstStyle/>
          <a:p>
            <a:r>
              <a:rPr lang="en-IN" b="1" dirty="0">
                <a:solidFill>
                  <a:srgbClr val="00B050"/>
                </a:solidFill>
              </a:rPr>
              <a:t>Goals per Match Distribution</a:t>
            </a:r>
            <a:endParaRPr lang="en-IN" dirty="0">
              <a:solidFill>
                <a:srgbClr val="00B050"/>
              </a:solidFill>
            </a:endParaRPr>
          </a:p>
        </p:txBody>
      </p:sp>
      <p:sp>
        <p:nvSpPr>
          <p:cNvPr id="11" name="TextBox 10">
            <a:extLst>
              <a:ext uri="{FF2B5EF4-FFF2-40B4-BE49-F238E27FC236}">
                <a16:creationId xmlns:a16="http://schemas.microsoft.com/office/drawing/2014/main" id="{14EB9F91-3A55-A2D8-84BE-2384E6D91C36}"/>
              </a:ext>
            </a:extLst>
          </p:cNvPr>
          <p:cNvSpPr txBox="1"/>
          <p:nvPr/>
        </p:nvSpPr>
        <p:spPr>
          <a:xfrm>
            <a:off x="7151741" y="342001"/>
            <a:ext cx="2169184" cy="400110"/>
          </a:xfrm>
          <a:prstGeom prst="rect">
            <a:avLst/>
          </a:prstGeom>
          <a:noFill/>
        </p:spPr>
        <p:txBody>
          <a:bodyPr wrap="none" rtlCol="0">
            <a:spAutoFit/>
          </a:bodyPr>
          <a:lstStyle/>
          <a:p>
            <a:r>
              <a:rPr lang="en-IN" sz="2000" b="1" dirty="0">
                <a:solidFill>
                  <a:srgbClr val="00B050"/>
                </a:solidFill>
              </a:rPr>
              <a:t>Goal Type Analysis</a:t>
            </a:r>
            <a:endParaRPr lang="en-IN" sz="2000" dirty="0">
              <a:solidFill>
                <a:srgbClr val="00B050"/>
              </a:solidFill>
            </a:endParaRPr>
          </a:p>
        </p:txBody>
      </p:sp>
      <p:sp>
        <p:nvSpPr>
          <p:cNvPr id="12" name="TextBox 11">
            <a:extLst>
              <a:ext uri="{FF2B5EF4-FFF2-40B4-BE49-F238E27FC236}">
                <a16:creationId xmlns:a16="http://schemas.microsoft.com/office/drawing/2014/main" id="{58ABF7C4-7B1E-10EF-5B34-57E9C158382B}"/>
              </a:ext>
            </a:extLst>
          </p:cNvPr>
          <p:cNvSpPr txBox="1"/>
          <p:nvPr/>
        </p:nvSpPr>
        <p:spPr>
          <a:xfrm>
            <a:off x="6801956" y="5276400"/>
            <a:ext cx="5037937" cy="1815882"/>
          </a:xfrm>
          <a:prstGeom prst="rect">
            <a:avLst/>
          </a:prstGeom>
          <a:noFill/>
        </p:spPr>
        <p:txBody>
          <a:bodyPr wrap="square" rtlCol="0">
            <a:spAutoFit/>
          </a:bodyPr>
          <a:lstStyle/>
          <a:p>
            <a:r>
              <a:rPr lang="en-IN" sz="1600" dirty="0"/>
              <a:t>Observation:</a:t>
            </a:r>
          </a:p>
          <a:p>
            <a:r>
              <a:rPr lang="en-US" sz="1600" dirty="0"/>
              <a:t>This distribution proves that international football success relies primarily on open-play execution, while low penalty and own-goal counts underscore elite defenders' strict tactical restraint and technical competence.</a:t>
            </a:r>
            <a:endParaRPr lang="en-IN" sz="1600" dirty="0"/>
          </a:p>
          <a:p>
            <a:endParaRPr lang="en-IN" sz="1600" dirty="0"/>
          </a:p>
          <a:p>
            <a:endParaRPr lang="en-IN" sz="1600" dirty="0"/>
          </a:p>
        </p:txBody>
      </p:sp>
      <p:pic>
        <p:nvPicPr>
          <p:cNvPr id="14" name="Content Placeholder 8">
            <a:extLst>
              <a:ext uri="{FF2B5EF4-FFF2-40B4-BE49-F238E27FC236}">
                <a16:creationId xmlns:a16="http://schemas.microsoft.com/office/drawing/2014/main" id="{DB9CE719-D2EB-E598-FB95-F80FED84B9BB}"/>
              </a:ext>
            </a:extLst>
          </p:cNvPr>
          <p:cNvPicPr>
            <a:picLocks noChangeAspect="1"/>
          </p:cNvPicPr>
          <p:nvPr/>
        </p:nvPicPr>
        <p:blipFill>
          <a:blip r:embed="rId3"/>
          <a:stretch>
            <a:fillRect/>
          </a:stretch>
        </p:blipFill>
        <p:spPr>
          <a:xfrm>
            <a:off x="7151741" y="1074858"/>
            <a:ext cx="4798143" cy="38211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324465" y="5512497"/>
            <a:ext cx="11008196" cy="1246495"/>
          </a:xfrm>
          <a:prstGeom prst="rect">
            <a:avLst/>
          </a:prstGeom>
          <a:noFill/>
        </p:spPr>
        <p:txBody>
          <a:bodyPr wrap="square">
            <a:spAutoFit/>
          </a:bodyPr>
          <a:lstStyle/>
          <a:p>
            <a:r>
              <a:rPr sz="1500" dirty="0"/>
              <a:t>•</a:t>
            </a:r>
            <a:r>
              <a:rPr lang="en-IN" sz="1500" dirty="0"/>
              <a:t>Observation:</a:t>
            </a:r>
          </a:p>
          <a:p>
            <a:r>
              <a:rPr lang="en-US" sz="1500" dirty="0"/>
              <a:t>The </a:t>
            </a:r>
            <a:r>
              <a:rPr lang="en-US" sz="1500" b="1" dirty="0"/>
              <a:t>United States </a:t>
            </a:r>
            <a:r>
              <a:rPr lang="en-US" sz="1500" dirty="0"/>
              <a:t>and</a:t>
            </a:r>
            <a:r>
              <a:rPr lang="en-US" sz="1500" b="1" dirty="0"/>
              <a:t> France </a:t>
            </a:r>
            <a:r>
              <a:rPr lang="en-US" sz="1500" dirty="0"/>
              <a:t>show the highest concentration of hosted matches, mainly driven by Friendly fixtures, reflecting their strong international football presence and hosting capacity. </a:t>
            </a:r>
            <a:r>
              <a:rPr lang="en-US" sz="1500" b="1" dirty="0"/>
              <a:t>Malaysia's</a:t>
            </a:r>
            <a:r>
              <a:rPr lang="en-US" sz="1500" dirty="0"/>
              <a:t> high hosting count is largely influenced by the </a:t>
            </a:r>
            <a:r>
              <a:rPr lang="en-US" sz="1500" b="1" dirty="0"/>
              <a:t>Merdeka Tournament</a:t>
            </a:r>
            <a:r>
              <a:rPr lang="en-US" sz="1500" dirty="0"/>
              <a:t>, an international invitational competition that contributed significantly to its match activity.</a:t>
            </a:r>
            <a:endParaRPr lang="en-IN" sz="1500" dirty="0"/>
          </a:p>
          <a:p>
            <a:pPr>
              <a:spcAft>
                <a:spcPts val="1400"/>
              </a:spcAft>
              <a:defRPr sz="1300">
                <a:solidFill>
                  <a:srgbClr val="1E293B"/>
                </a:solidFill>
                <a:latin typeface="Segoe UI"/>
              </a:defRPr>
            </a:pPr>
            <a:endParaRPr lang="en-US" sz="1500" dirty="0"/>
          </a:p>
        </p:txBody>
      </p:sp>
      <p:pic>
        <p:nvPicPr>
          <p:cNvPr id="6" name="Content Placeholder 4">
            <a:extLst>
              <a:ext uri="{FF2B5EF4-FFF2-40B4-BE49-F238E27FC236}">
                <a16:creationId xmlns:a16="http://schemas.microsoft.com/office/drawing/2014/main" id="{C806D267-C290-0467-D0FC-0502ADF50837}"/>
              </a:ext>
            </a:extLst>
          </p:cNvPr>
          <p:cNvPicPr>
            <a:picLocks noChangeAspect="1"/>
          </p:cNvPicPr>
          <p:nvPr/>
        </p:nvPicPr>
        <p:blipFill>
          <a:blip r:embed="rId2"/>
          <a:stretch>
            <a:fillRect/>
          </a:stretch>
        </p:blipFill>
        <p:spPr>
          <a:xfrm>
            <a:off x="57028" y="649847"/>
            <a:ext cx="11543070" cy="4666923"/>
          </a:xfrm>
          <a:prstGeom prst="rect">
            <a:avLst/>
          </a:prstGeom>
        </p:spPr>
      </p:pic>
      <p:sp>
        <p:nvSpPr>
          <p:cNvPr id="7" name="TextBox 6">
            <a:extLst>
              <a:ext uri="{FF2B5EF4-FFF2-40B4-BE49-F238E27FC236}">
                <a16:creationId xmlns:a16="http://schemas.microsoft.com/office/drawing/2014/main" id="{BC548F0E-1A80-47C3-451E-8DF1E0938226}"/>
              </a:ext>
            </a:extLst>
          </p:cNvPr>
          <p:cNvSpPr txBox="1"/>
          <p:nvPr/>
        </p:nvSpPr>
        <p:spPr>
          <a:xfrm>
            <a:off x="3008671" y="570271"/>
            <a:ext cx="646331" cy="369332"/>
          </a:xfrm>
          <a:prstGeom prst="rect">
            <a:avLst/>
          </a:prstGeom>
          <a:noFill/>
        </p:spPr>
        <p:txBody>
          <a:bodyPr wrap="none" rtlCol="0">
            <a:spAutoFit/>
          </a:bodyPr>
          <a:lstStyle/>
          <a:p>
            <a:r>
              <a:rPr lang="en-US" dirty="0"/>
              <a:t>	</a:t>
            </a:r>
            <a:endParaRPr lang="en-IN" dirty="0"/>
          </a:p>
        </p:txBody>
      </p:sp>
      <p:sp>
        <p:nvSpPr>
          <p:cNvPr id="8" name="TextBox 7">
            <a:extLst>
              <a:ext uri="{FF2B5EF4-FFF2-40B4-BE49-F238E27FC236}">
                <a16:creationId xmlns:a16="http://schemas.microsoft.com/office/drawing/2014/main" id="{84DE32C6-0218-556B-0A3E-3767C0FA784B}"/>
              </a:ext>
            </a:extLst>
          </p:cNvPr>
          <p:cNvSpPr txBox="1"/>
          <p:nvPr/>
        </p:nvSpPr>
        <p:spPr>
          <a:xfrm>
            <a:off x="324465" y="208346"/>
            <a:ext cx="5036187" cy="384721"/>
          </a:xfrm>
          <a:prstGeom prst="rect">
            <a:avLst/>
          </a:prstGeom>
          <a:noFill/>
        </p:spPr>
        <p:txBody>
          <a:bodyPr wrap="none" rtlCol="0">
            <a:spAutoFit/>
          </a:bodyPr>
          <a:lstStyle/>
          <a:p>
            <a:r>
              <a:rPr lang="en-US" sz="1900" b="1" dirty="0">
                <a:solidFill>
                  <a:srgbClr val="00B050"/>
                </a:solidFill>
              </a:rPr>
              <a:t>Major Tournament Distribution by Host Country</a:t>
            </a:r>
            <a:endParaRPr lang="en-IN" sz="1900" dirty="0">
              <a:solidFill>
                <a:srgbClr val="00B05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54453" y="457200"/>
            <a:ext cx="10515600" cy="230832"/>
          </a:xfrm>
          <a:prstGeom prst="rect">
            <a:avLst/>
          </a:prstGeom>
          <a:noFill/>
        </p:spPr>
        <p:txBody>
          <a:bodyPr wrap="square">
            <a:spAutoFit/>
          </a:bodyPr>
          <a:lstStyle/>
          <a:p>
            <a:pPr>
              <a:defRPr sz="900" b="1">
                <a:solidFill>
                  <a:srgbClr val="10B981"/>
                </a:solidFill>
                <a:latin typeface="Segoe UI"/>
              </a:defRPr>
            </a:pPr>
            <a:r>
              <a:rPr lang="en-US" dirty="0"/>
              <a:t>	</a:t>
            </a:r>
            <a:endParaRPr dirty="0"/>
          </a:p>
        </p:txBody>
      </p:sp>
      <p:sp>
        <p:nvSpPr>
          <p:cNvPr id="4" name="TextBox 3"/>
          <p:cNvSpPr txBox="1"/>
          <p:nvPr/>
        </p:nvSpPr>
        <p:spPr>
          <a:xfrm>
            <a:off x="239272" y="4958578"/>
            <a:ext cx="11008196" cy="2062103"/>
          </a:xfrm>
          <a:prstGeom prst="rect">
            <a:avLst/>
          </a:prstGeom>
          <a:noFill/>
        </p:spPr>
        <p:txBody>
          <a:bodyPr wrap="square">
            <a:spAutoFit/>
          </a:bodyPr>
          <a:lstStyle/>
          <a:p>
            <a:r>
              <a:rPr lang="en-IN" sz="1600" dirty="0"/>
              <a:t>Key Insights:</a:t>
            </a:r>
          </a:p>
          <a:p>
            <a:r>
              <a:rPr lang="en-US" sz="1600" dirty="0"/>
              <a:t>• </a:t>
            </a:r>
            <a:r>
              <a:rPr lang="en-US" sz="1600" b="1" dirty="0"/>
              <a:t>Cristiano Ronaldo </a:t>
            </a:r>
            <a:r>
              <a:rPr lang="en-US" sz="1600" dirty="0"/>
              <a:t>stands in a league of his own, maintaining a remarkable 49-goal lead over the second-highest international goal scorer, highlighting his exceptional longevity and consistency.</a:t>
            </a:r>
          </a:p>
          <a:p>
            <a:r>
              <a:rPr lang="en-US" sz="1600" dirty="0"/>
              <a:t> • </a:t>
            </a:r>
            <a:r>
              <a:rPr lang="en-US" sz="1600" b="1" dirty="0"/>
              <a:t>Lionel Messi </a:t>
            </a:r>
            <a:r>
              <a:rPr lang="en-US" sz="1600" dirty="0"/>
              <a:t>and </a:t>
            </a:r>
            <a:r>
              <a:rPr lang="en-US" sz="1600" b="1" dirty="0"/>
              <a:t>Harry Kane </a:t>
            </a:r>
            <a:r>
              <a:rPr lang="en-US" sz="1600" dirty="0"/>
              <a:t>lead the chasing pack, reflecting sustained elite-level goal-scoring performances across international competitions.</a:t>
            </a:r>
          </a:p>
          <a:p>
            <a:r>
              <a:rPr lang="en-US" sz="1600" dirty="0"/>
              <a:t>• </a:t>
            </a:r>
            <a:r>
              <a:rPr lang="en-US" sz="1600" b="1" dirty="0"/>
              <a:t>European players </a:t>
            </a:r>
            <a:r>
              <a:rPr lang="en-US" sz="1600" dirty="0"/>
              <a:t>dominate the rankings, occupying </a:t>
            </a:r>
            <a:r>
              <a:rPr lang="en-US" sz="1600" b="1" dirty="0"/>
              <a:t>8 of the top 10 </a:t>
            </a:r>
            <a:r>
              <a:rPr lang="en-US" sz="1600" dirty="0"/>
              <a:t>positions, underscoring Europe's long-standing strength and depth in international football.</a:t>
            </a:r>
            <a:endParaRPr lang="en-IN" sz="1600" dirty="0"/>
          </a:p>
          <a:p>
            <a:pPr>
              <a:spcAft>
                <a:spcPts val="1400"/>
              </a:spcAft>
              <a:defRPr sz="1300">
                <a:solidFill>
                  <a:srgbClr val="1E293B"/>
                </a:solidFill>
                <a:latin typeface="Segoe UI"/>
              </a:defRPr>
            </a:pPr>
            <a:endParaRPr sz="1600" dirty="0"/>
          </a:p>
        </p:txBody>
      </p:sp>
      <p:pic>
        <p:nvPicPr>
          <p:cNvPr id="7" name="Content Placeholder 7">
            <a:extLst>
              <a:ext uri="{FF2B5EF4-FFF2-40B4-BE49-F238E27FC236}">
                <a16:creationId xmlns:a16="http://schemas.microsoft.com/office/drawing/2014/main" id="{9BEE91B7-067F-5016-9A59-D04A762AA1B4}"/>
              </a:ext>
            </a:extLst>
          </p:cNvPr>
          <p:cNvPicPr>
            <a:picLocks noChangeAspect="1"/>
          </p:cNvPicPr>
          <p:nvPr/>
        </p:nvPicPr>
        <p:blipFill>
          <a:blip r:embed="rId2"/>
          <a:stretch>
            <a:fillRect/>
          </a:stretch>
        </p:blipFill>
        <p:spPr>
          <a:xfrm>
            <a:off x="872121" y="763334"/>
            <a:ext cx="9480263" cy="4119941"/>
          </a:xfrm>
          <a:prstGeom prst="rect">
            <a:avLst/>
          </a:prstGeom>
        </p:spPr>
      </p:pic>
      <p:sp>
        <p:nvSpPr>
          <p:cNvPr id="9" name="TextBox 8">
            <a:extLst>
              <a:ext uri="{FF2B5EF4-FFF2-40B4-BE49-F238E27FC236}">
                <a16:creationId xmlns:a16="http://schemas.microsoft.com/office/drawing/2014/main" id="{EB1E209B-6F4E-3F06-4670-E2E8673FABFD}"/>
              </a:ext>
            </a:extLst>
          </p:cNvPr>
          <p:cNvSpPr txBox="1"/>
          <p:nvPr/>
        </p:nvSpPr>
        <p:spPr>
          <a:xfrm>
            <a:off x="416252" y="170171"/>
            <a:ext cx="2294154" cy="461665"/>
          </a:xfrm>
          <a:prstGeom prst="rect">
            <a:avLst/>
          </a:prstGeom>
          <a:noFill/>
        </p:spPr>
        <p:txBody>
          <a:bodyPr wrap="none" rtlCol="0">
            <a:spAutoFit/>
          </a:bodyPr>
          <a:lstStyle/>
          <a:p>
            <a:r>
              <a:rPr lang="en-IN" sz="2400" b="1" dirty="0">
                <a:solidFill>
                  <a:srgbClr val="00B050"/>
                </a:solidFill>
              </a:rPr>
              <a:t>Top Goal Scorers</a:t>
            </a:r>
            <a:endParaRPr lang="en-IN" sz="2400" dirty="0">
              <a:solidFill>
                <a:srgbClr val="00B05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450166" y="5534561"/>
            <a:ext cx="11132233" cy="1323439"/>
          </a:xfrm>
          <a:prstGeom prst="rect">
            <a:avLst/>
          </a:prstGeom>
          <a:noFill/>
        </p:spPr>
        <p:txBody>
          <a:bodyPr wrap="square">
            <a:spAutoFit/>
          </a:bodyPr>
          <a:lstStyle/>
          <a:p>
            <a:r>
              <a:rPr lang="en-US" sz="1600" dirty="0"/>
              <a:t>Observation:</a:t>
            </a:r>
          </a:p>
          <a:p>
            <a:r>
              <a:rPr lang="en-US" sz="1600" dirty="0"/>
              <a:t>The top-ranked teams have scored the highest number of international goals. These teams have consistently displayed strong attacking performances across different tournaments and eras. Their high goal totals reflect both frequent participation and elite offensive consistency.</a:t>
            </a:r>
            <a:endParaRPr lang="en-IN" sz="1600" dirty="0"/>
          </a:p>
          <a:p>
            <a:pPr>
              <a:spcAft>
                <a:spcPts val="1400"/>
              </a:spcAft>
              <a:defRPr sz="1300">
                <a:solidFill>
                  <a:srgbClr val="1E293B"/>
                </a:solidFill>
                <a:latin typeface="Segoe UI"/>
              </a:defRPr>
            </a:pPr>
            <a:endParaRPr sz="1600" dirty="0"/>
          </a:p>
        </p:txBody>
      </p:sp>
      <p:pic>
        <p:nvPicPr>
          <p:cNvPr id="6" name="Content Placeholder 4">
            <a:extLst>
              <a:ext uri="{FF2B5EF4-FFF2-40B4-BE49-F238E27FC236}">
                <a16:creationId xmlns:a16="http://schemas.microsoft.com/office/drawing/2014/main" id="{6455F555-CC2D-E7DA-5665-AD80A8A3AD34}"/>
              </a:ext>
            </a:extLst>
          </p:cNvPr>
          <p:cNvPicPr>
            <a:picLocks noChangeAspect="1"/>
          </p:cNvPicPr>
          <p:nvPr/>
        </p:nvPicPr>
        <p:blipFill>
          <a:blip r:embed="rId2"/>
          <a:stretch>
            <a:fillRect/>
          </a:stretch>
        </p:blipFill>
        <p:spPr>
          <a:xfrm>
            <a:off x="375507" y="845574"/>
            <a:ext cx="10980752" cy="4610329"/>
          </a:xfrm>
          <a:prstGeom prst="rect">
            <a:avLst/>
          </a:prstGeom>
        </p:spPr>
      </p:pic>
      <p:sp>
        <p:nvSpPr>
          <p:cNvPr id="9" name="TextBox 8">
            <a:extLst>
              <a:ext uri="{FF2B5EF4-FFF2-40B4-BE49-F238E27FC236}">
                <a16:creationId xmlns:a16="http://schemas.microsoft.com/office/drawing/2014/main" id="{8C82C8BD-55D5-450F-C3A4-DEC0AAA8496C}"/>
              </a:ext>
            </a:extLst>
          </p:cNvPr>
          <p:cNvSpPr txBox="1"/>
          <p:nvPr/>
        </p:nvSpPr>
        <p:spPr>
          <a:xfrm>
            <a:off x="776748" y="140939"/>
            <a:ext cx="3555589" cy="461665"/>
          </a:xfrm>
          <a:prstGeom prst="rect">
            <a:avLst/>
          </a:prstGeom>
          <a:noFill/>
        </p:spPr>
        <p:txBody>
          <a:bodyPr wrap="none" rtlCol="0">
            <a:spAutoFit/>
          </a:bodyPr>
          <a:lstStyle/>
          <a:p>
            <a:r>
              <a:rPr lang="en-US" sz="2400" b="1" dirty="0">
                <a:solidFill>
                  <a:srgbClr val="00B050"/>
                </a:solidFill>
              </a:rPr>
              <a:t>Top 10 Goal Scoring Teams</a:t>
            </a:r>
            <a:endParaRPr lang="en-IN" sz="2400" dirty="0">
              <a:solidFill>
                <a:srgbClr val="00B05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416888" y="111167"/>
            <a:ext cx="5187499" cy="400110"/>
          </a:xfrm>
          <a:prstGeom prst="rect">
            <a:avLst/>
          </a:prstGeom>
          <a:noFill/>
        </p:spPr>
        <p:txBody>
          <a:bodyPr wrap="square">
            <a:spAutoFit/>
          </a:bodyPr>
          <a:lstStyle/>
          <a:p>
            <a:pPr>
              <a:defRPr sz="900" b="1">
                <a:solidFill>
                  <a:srgbClr val="10B981"/>
                </a:solidFill>
                <a:latin typeface="Segoe UI"/>
              </a:defRPr>
            </a:pPr>
            <a:r>
              <a:rPr lang="en-US" sz="2000" b="1" dirty="0"/>
              <a:t>Average Goals per Match by Tournament</a:t>
            </a:r>
            <a:endParaRPr sz="2000" dirty="0"/>
          </a:p>
        </p:txBody>
      </p:sp>
      <p:sp>
        <p:nvSpPr>
          <p:cNvPr id="4" name="TextBox 3"/>
          <p:cNvSpPr txBox="1"/>
          <p:nvPr/>
        </p:nvSpPr>
        <p:spPr>
          <a:xfrm>
            <a:off x="328398" y="5550563"/>
            <a:ext cx="11312996" cy="1077218"/>
          </a:xfrm>
          <a:prstGeom prst="rect">
            <a:avLst/>
          </a:prstGeom>
          <a:noFill/>
        </p:spPr>
        <p:txBody>
          <a:bodyPr wrap="square">
            <a:spAutoFit/>
          </a:bodyPr>
          <a:lstStyle/>
          <a:p>
            <a:r>
              <a:rPr lang="en-IN" sz="1600" dirty="0"/>
              <a:t>Observation:</a:t>
            </a:r>
          </a:p>
          <a:p>
            <a:r>
              <a:rPr lang="en-IN" sz="1600" dirty="0"/>
              <a:t>Smaller regional tournaments such as NAFC Championship and Oceania Nations Cup show higher average goals per match, suggesting that high tournament goal averages are driven by a combination of small sample sizes where a few high-scoring games skew the data, stark regional skill gaps that produce massive mismatches, and loose defensive tactics that lead to highly open, attacking football.</a:t>
            </a:r>
          </a:p>
        </p:txBody>
      </p:sp>
      <p:pic>
        <p:nvPicPr>
          <p:cNvPr id="6" name="Content Placeholder 4">
            <a:extLst>
              <a:ext uri="{FF2B5EF4-FFF2-40B4-BE49-F238E27FC236}">
                <a16:creationId xmlns:a16="http://schemas.microsoft.com/office/drawing/2014/main" id="{402B4808-F913-319F-2002-7F0436254F11}"/>
              </a:ext>
            </a:extLst>
          </p:cNvPr>
          <p:cNvPicPr>
            <a:picLocks noChangeAspect="1"/>
          </p:cNvPicPr>
          <p:nvPr/>
        </p:nvPicPr>
        <p:blipFill>
          <a:blip r:embed="rId2"/>
          <a:stretch>
            <a:fillRect/>
          </a:stretch>
        </p:blipFill>
        <p:spPr>
          <a:xfrm>
            <a:off x="731521" y="663930"/>
            <a:ext cx="9336712" cy="48866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39635" y="115556"/>
            <a:ext cx="4734783" cy="461665"/>
          </a:xfrm>
          <a:prstGeom prst="rect">
            <a:avLst/>
          </a:prstGeom>
          <a:noFill/>
        </p:spPr>
        <p:txBody>
          <a:bodyPr wrap="square">
            <a:spAutoFit/>
          </a:bodyPr>
          <a:lstStyle/>
          <a:p>
            <a:pPr>
              <a:defRPr sz="900" b="1">
                <a:solidFill>
                  <a:srgbClr val="10B981"/>
                </a:solidFill>
                <a:latin typeface="Segoe UI"/>
              </a:defRPr>
            </a:pPr>
            <a:r>
              <a:rPr lang="en-US" sz="2300" b="1" dirty="0"/>
              <a:t>Top Goal Scorers by Tournament</a:t>
            </a:r>
            <a:endParaRPr sz="2300" dirty="0"/>
          </a:p>
        </p:txBody>
      </p:sp>
      <p:sp>
        <p:nvSpPr>
          <p:cNvPr id="4" name="TextBox 3"/>
          <p:cNvSpPr txBox="1"/>
          <p:nvPr/>
        </p:nvSpPr>
        <p:spPr>
          <a:xfrm>
            <a:off x="580794" y="5362054"/>
            <a:ext cx="10381957" cy="1569660"/>
          </a:xfrm>
          <a:prstGeom prst="rect">
            <a:avLst/>
          </a:prstGeom>
          <a:noFill/>
        </p:spPr>
        <p:txBody>
          <a:bodyPr wrap="square">
            <a:spAutoFit/>
          </a:bodyPr>
          <a:lstStyle/>
          <a:p>
            <a:r>
              <a:rPr lang="en-IN" sz="1600" dirty="0"/>
              <a:t>Observation:</a:t>
            </a:r>
          </a:p>
          <a:p>
            <a:r>
              <a:rPr lang="en-US" sz="1600" b="1" dirty="0"/>
              <a:t>Cristiano Ronaldo </a:t>
            </a:r>
            <a:r>
              <a:rPr lang="en-US" sz="1600" dirty="0"/>
              <a:t>dominated international football by emerging as the top scorer in both FIFA World Cup Qualification and UEFA Euro Qualification, highlighting his exceptional consistency in qualification campaigns, while </a:t>
            </a:r>
            <a:r>
              <a:rPr lang="en-US" sz="1600" b="1" dirty="0"/>
              <a:t>Lionel Messi </a:t>
            </a:r>
            <a:r>
              <a:rPr lang="en-US" sz="1600" dirty="0"/>
              <a:t>led the scoring charts in the FIFA World Cup, emphasizes his efficiency and clutch delivery during football's most critical knockout matches that maximizes the competitive value of his goals.</a:t>
            </a:r>
            <a:endParaRPr lang="en-IN" sz="1600" dirty="0"/>
          </a:p>
          <a:p>
            <a:pPr>
              <a:spcAft>
                <a:spcPts val="1400"/>
              </a:spcAft>
              <a:defRPr sz="1300">
                <a:solidFill>
                  <a:srgbClr val="1E293B"/>
                </a:solidFill>
                <a:latin typeface="Segoe UI"/>
              </a:defRPr>
            </a:pPr>
            <a:endParaRPr sz="1600" dirty="0"/>
          </a:p>
        </p:txBody>
      </p:sp>
      <p:pic>
        <p:nvPicPr>
          <p:cNvPr id="6" name="Content Placeholder 12">
            <a:extLst>
              <a:ext uri="{FF2B5EF4-FFF2-40B4-BE49-F238E27FC236}">
                <a16:creationId xmlns:a16="http://schemas.microsoft.com/office/drawing/2014/main" id="{91317A01-E8DB-4868-34EF-AD0025FEA626}"/>
              </a:ext>
            </a:extLst>
          </p:cNvPr>
          <p:cNvPicPr>
            <a:picLocks noChangeAspect="1"/>
          </p:cNvPicPr>
          <p:nvPr/>
        </p:nvPicPr>
        <p:blipFill>
          <a:blip r:embed="rId2"/>
          <a:stretch>
            <a:fillRect/>
          </a:stretch>
        </p:blipFill>
        <p:spPr>
          <a:xfrm>
            <a:off x="683287" y="697800"/>
            <a:ext cx="8902839" cy="478483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69779" y="165798"/>
            <a:ext cx="4182124" cy="400110"/>
          </a:xfrm>
          <a:prstGeom prst="rect">
            <a:avLst/>
          </a:prstGeom>
          <a:noFill/>
        </p:spPr>
        <p:txBody>
          <a:bodyPr wrap="square">
            <a:spAutoFit/>
          </a:bodyPr>
          <a:lstStyle/>
          <a:p>
            <a:pPr>
              <a:defRPr sz="900" b="1">
                <a:solidFill>
                  <a:srgbClr val="10B981"/>
                </a:solidFill>
                <a:latin typeface="Segoe UI"/>
              </a:defRPr>
            </a:pPr>
            <a:r>
              <a:rPr lang="en-IN" sz="2000" b="1" dirty="0"/>
              <a:t>Most Competitive Tournaments</a:t>
            </a:r>
            <a:endParaRPr sz="2000" dirty="0"/>
          </a:p>
        </p:txBody>
      </p:sp>
      <p:sp>
        <p:nvSpPr>
          <p:cNvPr id="4" name="TextBox 3"/>
          <p:cNvSpPr txBox="1"/>
          <p:nvPr/>
        </p:nvSpPr>
        <p:spPr>
          <a:xfrm>
            <a:off x="132681" y="5340983"/>
            <a:ext cx="12170563" cy="1646605"/>
          </a:xfrm>
          <a:prstGeom prst="rect">
            <a:avLst/>
          </a:prstGeom>
          <a:noFill/>
        </p:spPr>
        <p:txBody>
          <a:bodyPr wrap="square">
            <a:spAutoFit/>
          </a:bodyPr>
          <a:lstStyle/>
          <a:p>
            <a:r>
              <a:rPr dirty="0"/>
              <a:t>•</a:t>
            </a:r>
            <a:r>
              <a:rPr lang="en-US" sz="1400" dirty="0"/>
              <a:t>Key Insights:</a:t>
            </a:r>
          </a:p>
          <a:p>
            <a:r>
              <a:rPr lang="en-US" sz="1400" dirty="0"/>
              <a:t>• </a:t>
            </a:r>
            <a:r>
              <a:rPr lang="en-US" sz="1400" b="1" dirty="0"/>
              <a:t>Friendly matches </a:t>
            </a:r>
            <a:r>
              <a:rPr lang="en-US" sz="1400" dirty="0"/>
              <a:t>(79) recorded the highest number of penalty shootouts, primarily due to their large match volume, as observed in the results dataset.</a:t>
            </a:r>
          </a:p>
          <a:p>
            <a:r>
              <a:rPr lang="en-US" sz="1400" dirty="0"/>
              <a:t>• Regional competitions such as the </a:t>
            </a:r>
            <a:r>
              <a:rPr lang="en-US" sz="1400" b="1" dirty="0"/>
              <a:t>COSAFA Cup </a:t>
            </a:r>
            <a:r>
              <a:rPr lang="en-US" sz="1400" dirty="0"/>
              <a:t>(63) also witnessed frequent shootouts, reflecting closely contested matches and tournament formats that often proceed directly to penalties.</a:t>
            </a:r>
          </a:p>
          <a:p>
            <a:r>
              <a:rPr lang="en-US" sz="1400" dirty="0"/>
              <a:t> • Major international tournaments, including the </a:t>
            </a:r>
            <a:r>
              <a:rPr lang="en-US" sz="1400" b="1" dirty="0"/>
              <a:t>African Cup of Nations </a:t>
            </a:r>
            <a:r>
              <a:rPr lang="en-US" sz="1400" dirty="0"/>
              <a:t>(47), </a:t>
            </a:r>
            <a:r>
              <a:rPr lang="en-US" sz="1400" b="1" dirty="0"/>
              <a:t>FIFA World Cup </a:t>
            </a:r>
            <a:r>
              <a:rPr lang="en-US" sz="1400" dirty="0"/>
              <a:t>(39), </a:t>
            </a:r>
            <a:r>
              <a:rPr lang="en-US" sz="1400" b="1" dirty="0"/>
              <a:t>Copa América </a:t>
            </a:r>
            <a:r>
              <a:rPr lang="en-US" sz="1400" dirty="0"/>
              <a:t>(33), and </a:t>
            </a:r>
            <a:r>
              <a:rPr lang="en-US" sz="1400" b="1" dirty="0"/>
              <a:t>UEFA</a:t>
            </a:r>
            <a:r>
              <a:rPr lang="en-US" sz="1400" dirty="0"/>
              <a:t> </a:t>
            </a:r>
            <a:r>
              <a:rPr lang="en-US" sz="1400" b="1" dirty="0"/>
              <a:t>Euro</a:t>
            </a:r>
            <a:r>
              <a:rPr lang="en-US" sz="1400" dirty="0"/>
              <a:t> (25), regularly reached penalty shootouts, highlighting the intense competition and narrow margins in knockout-stage football.</a:t>
            </a:r>
            <a:endParaRPr lang="en-IN" sz="1400" dirty="0"/>
          </a:p>
          <a:p>
            <a:pPr>
              <a:spcAft>
                <a:spcPts val="1400"/>
              </a:spcAft>
              <a:defRPr sz="1300">
                <a:solidFill>
                  <a:srgbClr val="1E293B"/>
                </a:solidFill>
                <a:latin typeface="Segoe UI"/>
              </a:defRPr>
            </a:pPr>
            <a:endParaRPr dirty="0"/>
          </a:p>
        </p:txBody>
      </p:sp>
      <p:pic>
        <p:nvPicPr>
          <p:cNvPr id="6" name="Content Placeholder 4">
            <a:extLst>
              <a:ext uri="{FF2B5EF4-FFF2-40B4-BE49-F238E27FC236}">
                <a16:creationId xmlns:a16="http://schemas.microsoft.com/office/drawing/2014/main" id="{E0447A8C-C2D9-DB73-6B43-C2362600631A}"/>
              </a:ext>
            </a:extLst>
          </p:cNvPr>
          <p:cNvPicPr>
            <a:picLocks noChangeAspect="1"/>
          </p:cNvPicPr>
          <p:nvPr/>
        </p:nvPicPr>
        <p:blipFill>
          <a:blip r:embed="rId2"/>
          <a:stretch>
            <a:fillRect/>
          </a:stretch>
        </p:blipFill>
        <p:spPr>
          <a:xfrm>
            <a:off x="836066" y="676440"/>
            <a:ext cx="9222658" cy="478246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209427" y="5164524"/>
            <a:ext cx="5303520" cy="1569660"/>
          </a:xfrm>
          <a:prstGeom prst="rect">
            <a:avLst/>
          </a:prstGeom>
          <a:noFill/>
        </p:spPr>
        <p:txBody>
          <a:bodyPr wrap="square">
            <a:spAutoFit/>
          </a:bodyPr>
          <a:lstStyle/>
          <a:p>
            <a:r>
              <a:rPr lang="en-IN" sz="1600" dirty="0"/>
              <a:t>Observation:</a:t>
            </a:r>
          </a:p>
          <a:p>
            <a:r>
              <a:rPr lang="en-IN" sz="1600" b="1" dirty="0"/>
              <a:t>Egypt</a:t>
            </a:r>
            <a:r>
              <a:rPr lang="en-IN" sz="1600" dirty="0"/>
              <a:t> leads the ranking with the highest penalty shootout victories, while </a:t>
            </a:r>
            <a:r>
              <a:rPr lang="en-IN" sz="1600" b="1" dirty="0"/>
              <a:t>South Korea </a:t>
            </a:r>
            <a:r>
              <a:rPr lang="en-IN" sz="1600" dirty="0"/>
              <a:t>and </a:t>
            </a:r>
            <a:r>
              <a:rPr lang="en-IN" sz="1600" b="1" dirty="0"/>
              <a:t>Argentina </a:t>
            </a:r>
            <a:r>
              <a:rPr lang="en-IN" sz="1600" dirty="0"/>
              <a:t>also demonstrate remarkable consistency in high-pressure knockout matches, reflecting strong composure during decisive moments.</a:t>
            </a:r>
            <a:r>
              <a:rPr lang="en-US" sz="1600" dirty="0"/>
              <a:t>.</a:t>
            </a:r>
            <a:endParaRPr lang="en-IN" sz="1600" dirty="0"/>
          </a:p>
          <a:p>
            <a:pPr>
              <a:spcAft>
                <a:spcPts val="1400"/>
              </a:spcAft>
              <a:defRPr sz="1300">
                <a:solidFill>
                  <a:srgbClr val="1E293B"/>
                </a:solidFill>
                <a:latin typeface="Segoe UI"/>
              </a:defRPr>
            </a:pPr>
            <a:endParaRPr sz="1600" dirty="0"/>
          </a:p>
        </p:txBody>
      </p:sp>
      <p:pic>
        <p:nvPicPr>
          <p:cNvPr id="6" name="Content Placeholder 4">
            <a:extLst>
              <a:ext uri="{FF2B5EF4-FFF2-40B4-BE49-F238E27FC236}">
                <a16:creationId xmlns:a16="http://schemas.microsoft.com/office/drawing/2014/main" id="{346A147B-24BD-2317-C7FD-1C7EC1365F67}"/>
              </a:ext>
            </a:extLst>
          </p:cNvPr>
          <p:cNvPicPr>
            <a:picLocks noChangeAspect="1"/>
          </p:cNvPicPr>
          <p:nvPr/>
        </p:nvPicPr>
        <p:blipFill>
          <a:blip r:embed="rId2"/>
          <a:stretch>
            <a:fillRect/>
          </a:stretch>
        </p:blipFill>
        <p:spPr>
          <a:xfrm>
            <a:off x="6096000" y="950098"/>
            <a:ext cx="5817745" cy="4109884"/>
          </a:xfrm>
          <a:prstGeom prst="rect">
            <a:avLst/>
          </a:prstGeom>
        </p:spPr>
      </p:pic>
      <p:pic>
        <p:nvPicPr>
          <p:cNvPr id="8" name="Content Placeholder 4">
            <a:extLst>
              <a:ext uri="{FF2B5EF4-FFF2-40B4-BE49-F238E27FC236}">
                <a16:creationId xmlns:a16="http://schemas.microsoft.com/office/drawing/2014/main" id="{E426E474-144B-6485-704F-4F330AD14147}"/>
              </a:ext>
            </a:extLst>
          </p:cNvPr>
          <p:cNvPicPr>
            <a:picLocks noChangeAspect="1"/>
          </p:cNvPicPr>
          <p:nvPr/>
        </p:nvPicPr>
        <p:blipFill>
          <a:blip r:embed="rId3"/>
          <a:stretch>
            <a:fillRect/>
          </a:stretch>
        </p:blipFill>
        <p:spPr>
          <a:xfrm>
            <a:off x="77039" y="950098"/>
            <a:ext cx="5576510" cy="4214426"/>
          </a:xfrm>
          <a:prstGeom prst="rect">
            <a:avLst/>
          </a:prstGeom>
        </p:spPr>
      </p:pic>
      <p:sp>
        <p:nvSpPr>
          <p:cNvPr id="9" name="TextBox 8">
            <a:extLst>
              <a:ext uri="{FF2B5EF4-FFF2-40B4-BE49-F238E27FC236}">
                <a16:creationId xmlns:a16="http://schemas.microsoft.com/office/drawing/2014/main" id="{8A201E87-4D5A-5C54-6CA0-10435193987B}"/>
              </a:ext>
            </a:extLst>
          </p:cNvPr>
          <p:cNvSpPr txBox="1"/>
          <p:nvPr/>
        </p:nvSpPr>
        <p:spPr>
          <a:xfrm>
            <a:off x="452284" y="223643"/>
            <a:ext cx="3116825" cy="830997"/>
          </a:xfrm>
          <a:prstGeom prst="rect">
            <a:avLst/>
          </a:prstGeom>
          <a:noFill/>
        </p:spPr>
        <p:txBody>
          <a:bodyPr wrap="square" rtlCol="0">
            <a:spAutoFit/>
          </a:bodyPr>
          <a:lstStyle/>
          <a:p>
            <a:r>
              <a:rPr lang="en-IN" sz="2400" b="1" dirty="0">
                <a:solidFill>
                  <a:srgbClr val="00B050"/>
                </a:solidFill>
              </a:rPr>
              <a:t>Top Shootout Winners</a:t>
            </a:r>
          </a:p>
          <a:p>
            <a:endParaRPr lang="en-IN" sz="2400" dirty="0"/>
          </a:p>
        </p:txBody>
      </p:sp>
      <p:sp>
        <p:nvSpPr>
          <p:cNvPr id="10" name="TextBox 9">
            <a:extLst>
              <a:ext uri="{FF2B5EF4-FFF2-40B4-BE49-F238E27FC236}">
                <a16:creationId xmlns:a16="http://schemas.microsoft.com/office/drawing/2014/main" id="{1BC0BABC-01F6-B1CC-7643-155B3F02FDA3}"/>
              </a:ext>
            </a:extLst>
          </p:cNvPr>
          <p:cNvSpPr txBox="1"/>
          <p:nvPr/>
        </p:nvSpPr>
        <p:spPr>
          <a:xfrm>
            <a:off x="6197213" y="158321"/>
            <a:ext cx="5812745" cy="446276"/>
          </a:xfrm>
          <a:prstGeom prst="rect">
            <a:avLst/>
          </a:prstGeom>
          <a:noFill/>
        </p:spPr>
        <p:txBody>
          <a:bodyPr wrap="none" rtlCol="0">
            <a:spAutoFit/>
          </a:bodyPr>
          <a:lstStyle/>
          <a:p>
            <a:r>
              <a:rPr lang="en-US" sz="2300" b="1" dirty="0">
                <a:solidFill>
                  <a:srgbClr val="00B050"/>
                </a:solidFill>
              </a:rPr>
              <a:t>Top Goal Scorers in Penalty Shootout Matches</a:t>
            </a:r>
            <a:endParaRPr lang="en-IN" sz="2300" dirty="0">
              <a:solidFill>
                <a:srgbClr val="00B050"/>
              </a:solidFill>
            </a:endParaRPr>
          </a:p>
        </p:txBody>
      </p:sp>
      <p:sp>
        <p:nvSpPr>
          <p:cNvPr id="11" name="TextBox 10">
            <a:extLst>
              <a:ext uri="{FF2B5EF4-FFF2-40B4-BE49-F238E27FC236}">
                <a16:creationId xmlns:a16="http://schemas.microsoft.com/office/drawing/2014/main" id="{82359C60-2F5A-4D8A-5541-508A04333E72}"/>
              </a:ext>
            </a:extLst>
          </p:cNvPr>
          <p:cNvSpPr txBox="1"/>
          <p:nvPr/>
        </p:nvSpPr>
        <p:spPr>
          <a:xfrm>
            <a:off x="6260196" y="4755183"/>
            <a:ext cx="6096000" cy="2062103"/>
          </a:xfrm>
          <a:prstGeom prst="rect">
            <a:avLst/>
          </a:prstGeom>
          <a:noFill/>
        </p:spPr>
        <p:txBody>
          <a:bodyPr wrap="square" rtlCol="0">
            <a:spAutoFit/>
          </a:bodyPr>
          <a:lstStyle/>
          <a:p>
            <a:r>
              <a:rPr lang="en-IN" sz="1600" dirty="0"/>
              <a:t>Key Insights:</a:t>
            </a:r>
          </a:p>
          <a:p>
            <a:r>
              <a:rPr lang="en-US" sz="1600" dirty="0"/>
              <a:t>• The low goal counts indicate that penalty shootout matches are generally tightly contested, with most players scoring only </a:t>
            </a:r>
            <a:r>
              <a:rPr lang="en-US" sz="1600" b="1" dirty="0"/>
              <a:t>2–3 goals </a:t>
            </a:r>
            <a:r>
              <a:rPr lang="en-US" sz="1600" dirty="0"/>
              <a:t>across such high-pressure encounters</a:t>
            </a:r>
          </a:p>
          <a:p>
            <a:r>
              <a:rPr lang="en-US" sz="1600" dirty="0"/>
              <a:t>• </a:t>
            </a:r>
            <a:r>
              <a:rPr lang="en-US" sz="1600" b="1" dirty="0"/>
              <a:t>Jamil Joseph</a:t>
            </a:r>
            <a:r>
              <a:rPr lang="en-US" sz="1600" dirty="0"/>
              <a:t>, </a:t>
            </a:r>
            <a:r>
              <a:rPr lang="en-US" sz="1600" b="1" dirty="0"/>
              <a:t>Lionel Messi</a:t>
            </a:r>
            <a:r>
              <a:rPr lang="en-US" sz="1600" dirty="0"/>
              <a:t>, and </a:t>
            </a:r>
            <a:r>
              <a:rPr lang="en-US" sz="1600" b="1" dirty="0"/>
              <a:t>Kylian Mbappe </a:t>
            </a:r>
            <a:r>
              <a:rPr lang="en-US" sz="1600" dirty="0"/>
              <a:t>jointly top the list with three goals each, demonstrating the importance of key attacking </a:t>
            </a:r>
            <a:r>
              <a:rPr lang="en-US" sz="1600" dirty="0" err="1"/>
              <a:t>pla</a:t>
            </a:r>
            <a:r>
              <a:rPr lang="en-IN" sz="1600" dirty="0"/>
              <a:t>y</a:t>
            </a:r>
            <a:r>
              <a:rPr lang="en-US" sz="1600" dirty="0" err="1"/>
              <a:t>ers</a:t>
            </a:r>
            <a:r>
              <a:rPr lang="en-US" sz="1600" dirty="0"/>
              <a:t> inclosely contested matches that eventually extend to penalty shootouts.</a:t>
            </a:r>
            <a:endParaRPr lang="en-IN" sz="1600" dirty="0"/>
          </a:p>
        </p:txBody>
      </p:sp>
      <p:cxnSp>
        <p:nvCxnSpPr>
          <p:cNvPr id="13" name="Straight Connector 12">
            <a:extLst>
              <a:ext uri="{FF2B5EF4-FFF2-40B4-BE49-F238E27FC236}">
                <a16:creationId xmlns:a16="http://schemas.microsoft.com/office/drawing/2014/main" id="{C69DDB53-E109-5F5F-B2AA-C80748C2AFB1}"/>
              </a:ext>
            </a:extLst>
          </p:cNvPr>
          <p:cNvCxnSpPr>
            <a:cxnSpLocks/>
          </p:cNvCxnSpPr>
          <p:nvPr/>
        </p:nvCxnSpPr>
        <p:spPr>
          <a:xfrm>
            <a:off x="5899355" y="639141"/>
            <a:ext cx="0" cy="5388033"/>
          </a:xfrm>
          <a:prstGeom prst="line">
            <a:avLst/>
          </a:prstGeom>
          <a:ln w="6350">
            <a:solidFill>
              <a:schemeClr val="bg1">
                <a:lumMod val="65000"/>
                <a:alpha val="2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6489290" y="478792"/>
            <a:ext cx="5452970" cy="830997"/>
          </a:xfrm>
          <a:prstGeom prst="rect">
            <a:avLst/>
          </a:prstGeom>
          <a:noFill/>
        </p:spPr>
        <p:txBody>
          <a:bodyPr wrap="square">
            <a:spAutoFit/>
          </a:bodyPr>
          <a:lstStyle/>
          <a:p>
            <a:pPr>
              <a:defRPr sz="900" b="1">
                <a:solidFill>
                  <a:srgbClr val="10B981"/>
                </a:solidFill>
                <a:latin typeface="Segoe UI"/>
              </a:defRPr>
            </a:pPr>
            <a:endParaRPr sz="2400" dirty="0"/>
          </a:p>
          <a:p>
            <a:pPr>
              <a:defRPr sz="2200" b="1">
                <a:solidFill>
                  <a:srgbClr val="0A192F"/>
                </a:solidFill>
                <a:latin typeface="Segoe UI"/>
              </a:defRPr>
            </a:pPr>
            <a:r>
              <a:rPr sz="2400" dirty="0"/>
              <a:t>Future Scope &amp; Advanced Analytics</a:t>
            </a:r>
          </a:p>
        </p:txBody>
      </p:sp>
      <p:sp>
        <p:nvSpPr>
          <p:cNvPr id="4" name="TextBox 3"/>
          <p:cNvSpPr txBox="1"/>
          <p:nvPr/>
        </p:nvSpPr>
        <p:spPr>
          <a:xfrm>
            <a:off x="456217" y="1885826"/>
            <a:ext cx="5639783" cy="3893374"/>
          </a:xfrm>
          <a:prstGeom prst="rect">
            <a:avLst/>
          </a:prstGeom>
          <a:noFill/>
        </p:spPr>
        <p:txBody>
          <a:bodyPr wrap="square">
            <a:spAutoFit/>
          </a:bodyPr>
          <a:lstStyle/>
          <a:p>
            <a:r>
              <a:rPr lang="en-IN" dirty="0"/>
              <a:t>• Analyzed international football data to uncover key match and tournament trends. </a:t>
            </a:r>
          </a:p>
          <a:p>
            <a:r>
              <a:rPr lang="en-IN" dirty="0"/>
              <a:t> • Identified top-performing teams based on </a:t>
            </a:r>
            <a:r>
              <a:rPr lang="en-IN" b="1" dirty="0"/>
              <a:t>winning efficiency</a:t>
            </a:r>
            <a:r>
              <a:rPr lang="en-IN" dirty="0"/>
              <a:t> and </a:t>
            </a:r>
            <a:r>
              <a:rPr lang="en-IN" b="1" dirty="0"/>
              <a:t>scoring consistency</a:t>
            </a:r>
            <a:r>
              <a:rPr lang="en-IN" dirty="0"/>
              <a:t>. </a:t>
            </a:r>
          </a:p>
          <a:p>
            <a:r>
              <a:rPr lang="en-IN" dirty="0"/>
              <a:t>• Evaluated tournament participation, host nations, and match outcome patterns. </a:t>
            </a:r>
          </a:p>
          <a:p>
            <a:r>
              <a:rPr lang="en-IN" dirty="0"/>
              <a:t>• Assessed </a:t>
            </a:r>
            <a:r>
              <a:rPr lang="en-IN" b="1" dirty="0"/>
              <a:t>penalty shootout performance</a:t>
            </a:r>
            <a:r>
              <a:rPr lang="en-IN" dirty="0"/>
              <a:t> and tournament competitiveness. </a:t>
            </a:r>
          </a:p>
          <a:p>
            <a:r>
              <a:rPr lang="en-IN" dirty="0"/>
              <a:t>• Integrated multiple datasets to generate deeper football performance insights. </a:t>
            </a:r>
          </a:p>
          <a:p>
            <a:r>
              <a:rPr lang="en-IN" dirty="0"/>
              <a:t>• Demonstrated the value of </a:t>
            </a:r>
            <a:r>
              <a:rPr lang="en-IN" b="1" dirty="0"/>
              <a:t>EDA</a:t>
            </a:r>
            <a:r>
              <a:rPr lang="en-IN" dirty="0"/>
              <a:t> and visualization in sports analytics. </a:t>
            </a:r>
          </a:p>
          <a:p>
            <a:endParaRPr lang="en-IN" dirty="0"/>
          </a:p>
          <a:p>
            <a:pPr>
              <a:spcAft>
                <a:spcPts val="1400"/>
              </a:spcAft>
              <a:defRPr sz="1300">
                <a:solidFill>
                  <a:srgbClr val="1E293B"/>
                </a:solidFill>
                <a:latin typeface="Segoe UI"/>
              </a:defRPr>
            </a:pPr>
            <a:endParaRPr dirty="0"/>
          </a:p>
        </p:txBody>
      </p:sp>
      <p:sp>
        <p:nvSpPr>
          <p:cNvPr id="6" name="TextBox 5">
            <a:extLst>
              <a:ext uri="{FF2B5EF4-FFF2-40B4-BE49-F238E27FC236}">
                <a16:creationId xmlns:a16="http://schemas.microsoft.com/office/drawing/2014/main" id="{7B8D9719-641D-A3F5-F426-60EE3BCFC211}"/>
              </a:ext>
            </a:extLst>
          </p:cNvPr>
          <p:cNvSpPr txBox="1"/>
          <p:nvPr/>
        </p:nvSpPr>
        <p:spPr>
          <a:xfrm>
            <a:off x="456217" y="894291"/>
            <a:ext cx="1925527" cy="553998"/>
          </a:xfrm>
          <a:prstGeom prst="rect">
            <a:avLst/>
          </a:prstGeom>
          <a:noFill/>
        </p:spPr>
        <p:txBody>
          <a:bodyPr wrap="none" rtlCol="0">
            <a:spAutoFit/>
          </a:bodyPr>
          <a:lstStyle/>
          <a:p>
            <a:r>
              <a:rPr lang="en-US" sz="3000" b="1" dirty="0">
                <a:solidFill>
                  <a:schemeClr val="tx2">
                    <a:lumMod val="50000"/>
                  </a:schemeClr>
                </a:solidFill>
              </a:rPr>
              <a:t>Conclusion</a:t>
            </a:r>
            <a:endParaRPr lang="en-IN" sz="3000" b="1" dirty="0">
              <a:solidFill>
                <a:schemeClr val="tx2">
                  <a:lumMod val="50000"/>
                </a:schemeClr>
              </a:solidFill>
            </a:endParaRPr>
          </a:p>
        </p:txBody>
      </p:sp>
      <p:sp>
        <p:nvSpPr>
          <p:cNvPr id="7" name="TextBox 6">
            <a:extLst>
              <a:ext uri="{FF2B5EF4-FFF2-40B4-BE49-F238E27FC236}">
                <a16:creationId xmlns:a16="http://schemas.microsoft.com/office/drawing/2014/main" id="{D0AEC53A-C0D5-A295-C2AF-2AFCC26C6FBB}"/>
              </a:ext>
            </a:extLst>
          </p:cNvPr>
          <p:cNvSpPr txBox="1"/>
          <p:nvPr/>
        </p:nvSpPr>
        <p:spPr>
          <a:xfrm>
            <a:off x="6489290" y="1730477"/>
            <a:ext cx="5246493" cy="4247317"/>
          </a:xfrm>
          <a:prstGeom prst="rect">
            <a:avLst/>
          </a:prstGeom>
          <a:noFill/>
        </p:spPr>
        <p:txBody>
          <a:bodyPr wrap="square" rtlCol="0">
            <a:spAutoFit/>
          </a:bodyPr>
          <a:lstStyle/>
          <a:p>
            <a:r>
              <a:rPr lang="en-IN" dirty="0"/>
              <a:t>• Integrate </a:t>
            </a:r>
            <a:r>
              <a:rPr lang="en-IN" b="1" dirty="0"/>
              <a:t>FIFA Rankings, Elo Ratings, </a:t>
            </a:r>
            <a:r>
              <a:rPr lang="en-IN" dirty="0"/>
              <a:t>and</a:t>
            </a:r>
            <a:r>
              <a:rPr lang="en-IN" b="1" dirty="0"/>
              <a:t> player market values</a:t>
            </a:r>
            <a:r>
              <a:rPr lang="en-IN" dirty="0"/>
              <a:t> for advanced performance evaluation. </a:t>
            </a:r>
          </a:p>
          <a:p>
            <a:r>
              <a:rPr lang="en-IN" dirty="0"/>
              <a:t>• Build </a:t>
            </a:r>
            <a:r>
              <a:rPr lang="en-IN" b="1" dirty="0"/>
              <a:t>machine learning models</a:t>
            </a:r>
            <a:r>
              <a:rPr lang="en-IN" dirty="0"/>
              <a:t> to predict match outcomes and penalty shootout success. </a:t>
            </a:r>
          </a:p>
          <a:p>
            <a:r>
              <a:rPr lang="en-IN" dirty="0"/>
              <a:t>• Analyze </a:t>
            </a:r>
            <a:r>
              <a:rPr lang="en-IN" b="1" dirty="0"/>
              <a:t>home advantage, venue effects, </a:t>
            </a:r>
            <a:r>
              <a:rPr lang="en-IN" dirty="0"/>
              <a:t>and</a:t>
            </a:r>
            <a:r>
              <a:rPr lang="en-IN" b="1" dirty="0"/>
              <a:t> environmental factors</a:t>
            </a:r>
            <a:r>
              <a:rPr lang="en-IN" dirty="0"/>
              <a:t> influencing team performance. </a:t>
            </a:r>
          </a:p>
          <a:p>
            <a:r>
              <a:rPr lang="en-IN" dirty="0"/>
              <a:t>• Incorporate advanced metrics such as </a:t>
            </a:r>
            <a:r>
              <a:rPr lang="en-IN" b="1" dirty="0"/>
              <a:t>Expected Goals (xG), possession, </a:t>
            </a:r>
            <a:r>
              <a:rPr lang="en-IN" dirty="0"/>
              <a:t>and</a:t>
            </a:r>
            <a:r>
              <a:rPr lang="en-IN" b="1" dirty="0"/>
              <a:t> passing accuracy</a:t>
            </a:r>
            <a:r>
              <a:rPr lang="en-IN" dirty="0"/>
              <a:t> for tactical analysis.</a:t>
            </a:r>
          </a:p>
          <a:p>
            <a:r>
              <a:rPr lang="en-IN" dirty="0"/>
              <a:t>• Create </a:t>
            </a:r>
            <a:r>
              <a:rPr lang="en-IN" b="1" dirty="0"/>
              <a:t>interactive dashboards</a:t>
            </a:r>
            <a:r>
              <a:rPr lang="en-IN" dirty="0"/>
              <a:t> for real-time exploration of teams, tournaments, and player statistics. </a:t>
            </a:r>
          </a:p>
          <a:p>
            <a:r>
              <a:rPr lang="en-IN" dirty="0"/>
              <a:t>• Develop a </a:t>
            </a:r>
            <a:r>
              <a:rPr lang="en-IN" b="1" dirty="0"/>
              <a:t>Composite Football Performance Index</a:t>
            </a:r>
            <a:r>
              <a:rPr lang="en-IN" dirty="0"/>
              <a:t> to rank teams using offensive, defensive, and competitive performance metrics.</a:t>
            </a:r>
          </a:p>
        </p:txBody>
      </p:sp>
      <p:cxnSp>
        <p:nvCxnSpPr>
          <p:cNvPr id="9" name="Straight Connector 8">
            <a:extLst>
              <a:ext uri="{FF2B5EF4-FFF2-40B4-BE49-F238E27FC236}">
                <a16:creationId xmlns:a16="http://schemas.microsoft.com/office/drawing/2014/main" id="{DCA99481-F988-14D0-3741-C4B204B331FA}"/>
              </a:ext>
            </a:extLst>
          </p:cNvPr>
          <p:cNvCxnSpPr/>
          <p:nvPr/>
        </p:nvCxnSpPr>
        <p:spPr>
          <a:xfrm>
            <a:off x="6233652" y="894291"/>
            <a:ext cx="0" cy="4995232"/>
          </a:xfrm>
          <a:prstGeom prst="line">
            <a:avLst/>
          </a:prstGeom>
          <a:ln w="19050">
            <a:solidFill>
              <a:schemeClr val="accent1">
                <a:alpha val="5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151</TotalTime>
  <Words>1529</Words>
  <Application>Microsoft Office PowerPoint</Application>
  <PresentationFormat>Widescreen</PresentationFormat>
  <Paragraphs>115</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Hareesh Patel</dc:creator>
  <cp:keywords/>
  <dc:description>generated using python-pptx</dc:description>
  <cp:lastModifiedBy>Hareesh Patel</cp:lastModifiedBy>
  <cp:revision>6</cp:revision>
  <dcterms:created xsi:type="dcterms:W3CDTF">2013-01-27T09:14:16Z</dcterms:created>
  <dcterms:modified xsi:type="dcterms:W3CDTF">2026-07-28T10:40:25Z</dcterms:modified>
  <cp:category/>
</cp:coreProperties>
</file>