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3" r:id="rId9"/>
    <p:sldId id="264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6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8090" y="338031"/>
            <a:ext cx="1134642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lang="en-IN" sz="3000" b="1" dirty="0"/>
              <a:t>Lionel Messi International Career Performance Analysis</a:t>
            </a: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rPr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Hareesh Patel </a:t>
            </a:r>
            <a:r>
              <a:rPr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| MBA Graduate | Data Analytics Intern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88C5C-AA05-F722-401D-F0924D6AD8A5}"/>
              </a:ext>
            </a:extLst>
          </p:cNvPr>
          <p:cNvSpPr txBox="1"/>
          <p:nvPr/>
        </p:nvSpPr>
        <p:spPr>
          <a:xfrm>
            <a:off x="698090" y="2120477"/>
            <a:ext cx="33781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Career Analysis – Lionel Messi</a:t>
            </a:r>
            <a:endParaRPr lang="en-IN" sz="2000" b="1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691CF7-BD96-582D-777F-35B8CCCBB2CE}"/>
              </a:ext>
            </a:extLst>
          </p:cNvPr>
          <p:cNvSpPr txBox="1"/>
          <p:nvPr/>
        </p:nvSpPr>
        <p:spPr>
          <a:xfrm>
            <a:off x="576396" y="4949035"/>
            <a:ext cx="11139949" cy="2682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Project Overview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endParaRPr lang="en-IN" dirty="0"/>
          </a:p>
          <a:p>
            <a:r>
              <a:rPr lang="en-IN" b="1" dirty="0">
                <a:solidFill>
                  <a:schemeClr val="bg1"/>
                </a:solidFill>
              </a:rPr>
              <a:t>Objective:</a:t>
            </a:r>
            <a:r>
              <a:rPr lang="en-IN" dirty="0">
                <a:solidFill>
                  <a:schemeClr val="bg1"/>
                </a:solidFill>
              </a:rPr>
              <a:t> Leverage data analytics to evaluate Lionel Messi’s international career trajectory and overall impact on the field.</a:t>
            </a:r>
          </a:p>
          <a:p>
            <a:r>
              <a:rPr lang="en-IN" b="1" dirty="0">
                <a:solidFill>
                  <a:schemeClr val="bg1"/>
                </a:solidFill>
              </a:rPr>
              <a:t>Scope:</a:t>
            </a:r>
            <a:r>
              <a:rPr lang="en-IN" dirty="0">
                <a:solidFill>
                  <a:schemeClr val="bg1"/>
                </a:solidFill>
              </a:rPr>
              <a:t> Analyze historical match records, goal-scoring patterns, and tournament-specific performance metrics.</a:t>
            </a:r>
          </a:p>
          <a:p>
            <a:r>
              <a:rPr lang="en-IN" b="1" dirty="0">
                <a:solidFill>
                  <a:schemeClr val="bg1"/>
                </a:solidFill>
              </a:rPr>
              <a:t>Key Deliverables:</a:t>
            </a:r>
            <a:r>
              <a:rPr lang="en-IN" dirty="0">
                <a:solidFill>
                  <a:schemeClr val="bg1"/>
                </a:solidFill>
              </a:rPr>
              <a:t> Data-driven visualizations highlighting performance evolution, peak scoring years, and major career milestones.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IN" dirty="0">
              <a:solidFill>
                <a:schemeClr val="bg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56699-6E2A-E974-4FF1-20722EE0EFA1}"/>
              </a:ext>
            </a:extLst>
          </p:cNvPr>
          <p:cNvSpPr txBox="1"/>
          <p:nvPr/>
        </p:nvSpPr>
        <p:spPr>
          <a:xfrm>
            <a:off x="576396" y="2710275"/>
            <a:ext cx="80821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Lionel Messi? </a:t>
            </a:r>
          </a:p>
          <a:p>
            <a:r>
              <a:rPr lang="en-US" dirty="0">
                <a:solidFill>
                  <a:schemeClr val="bg1"/>
                </a:solidFill>
              </a:rPr>
              <a:t>Lionel Messi was selected for this analysis because of his exceptional international career, consistent goal-scoring record, and significant contributions across multiple tournaments. His long career timeline provides an excellent opportunity to study performance evolution, identify peak years, and analyze major career milestones.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2C5E8D-7805-A863-C366-EE36CBF886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8534398" y="1848854"/>
            <a:ext cx="2959511" cy="29772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4036" y="465557"/>
            <a:ext cx="548640" cy="4572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7512" y="457200"/>
            <a:ext cx="2808093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endParaRPr dirty="0"/>
          </a:p>
          <a:p>
            <a:pPr>
              <a:defRPr sz="2200" b="1">
                <a:solidFill>
                  <a:srgbClr val="0A192F"/>
                </a:solidFill>
                <a:latin typeface="Segoe UI"/>
              </a:defRPr>
            </a:pPr>
            <a:r>
              <a:rPr dirty="0"/>
              <a:t>Project O</a:t>
            </a:r>
            <a:r>
              <a:rPr lang="en-US" dirty="0"/>
              <a:t>bjectives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97512" y="1310605"/>
            <a:ext cx="6774426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Evaluate Goal Efficiency:</a:t>
            </a:r>
            <a:r>
              <a:rPr lang="en-IN" sz="2000" dirty="0"/>
              <a:t> Measure Lionel Messi’s goal-scoring consistency and peak performance cycles across his international career.</a:t>
            </a:r>
          </a:p>
          <a:p>
            <a:r>
              <a:rPr lang="en-IN" sz="2000" b="1" dirty="0"/>
              <a:t>Identify Performance Drivers:</a:t>
            </a:r>
            <a:r>
              <a:rPr lang="en-IN" sz="2000" dirty="0"/>
              <a:t> Analyze performance variations across major tournaments (FIFA World Cup, Copa América) vs. Friendlies.</a:t>
            </a:r>
          </a:p>
          <a:p>
            <a:r>
              <a:rPr lang="en-IN" sz="2000" b="1" dirty="0"/>
              <a:t>Assess Tactical &amp; Match Context:</a:t>
            </a:r>
            <a:r>
              <a:rPr lang="en-IN" sz="2000" dirty="0"/>
              <a:t> Measure the impact of match venues, team dominance, and critical career milestones on overall goal output.</a:t>
            </a:r>
          </a:p>
          <a:p>
            <a:r>
              <a:rPr lang="en-IN" sz="2000" b="1" dirty="0"/>
              <a:t>Build Predictive Baselines:</a:t>
            </a:r>
            <a:r>
              <a:rPr lang="en-IN" sz="2000" dirty="0"/>
              <a:t> Establish data-driven benchmarks for longitudinal player tracking and performance forecasting models</a:t>
            </a:r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endParaRPr sz="17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3DDAB-B845-43F7-9024-C725319AB3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374193" y="920416"/>
            <a:ext cx="4012444" cy="482763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0366" y="33849"/>
            <a:ext cx="62434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IN" sz="3200" b="1" dirty="0"/>
              <a:t> </a:t>
            </a:r>
            <a:r>
              <a:rPr lang="en-IN" sz="2800" dirty="0"/>
              <a:t>Player Career evolution Analysis</a:t>
            </a:r>
          </a:p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endParaRPr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8BED1A-A572-1E31-FCB5-3FA569988A15}"/>
              </a:ext>
            </a:extLst>
          </p:cNvPr>
          <p:cNvSpPr txBox="1"/>
          <p:nvPr/>
        </p:nvSpPr>
        <p:spPr>
          <a:xfrm>
            <a:off x="380366" y="4367470"/>
            <a:ext cx="11588585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700" b="1" dirty="0"/>
              <a:t>Lionel Messi's international career can be divided into six distinct phases</a:t>
            </a:r>
            <a:r>
              <a:rPr lang="en-IN" sz="1700" dirty="0"/>
              <a:t>:</a:t>
            </a:r>
          </a:p>
          <a:p>
            <a:r>
              <a:rPr lang="en-US" sz="1600" dirty="0"/>
              <a:t>• </a:t>
            </a:r>
            <a:r>
              <a:rPr lang="en-IN" sz="1700" dirty="0"/>
              <a:t>Early Development Phase (2006–2011)</a:t>
            </a:r>
          </a:p>
          <a:p>
            <a:r>
              <a:rPr lang="en-US" sz="1600" dirty="0"/>
              <a:t>• </a:t>
            </a:r>
            <a:r>
              <a:rPr lang="en-IN" sz="1700" dirty="0"/>
              <a:t>Performance Growth Phase (2012–2015)</a:t>
            </a:r>
          </a:p>
          <a:p>
            <a:r>
              <a:rPr lang="en-US" sz="1600" dirty="0"/>
              <a:t>• </a:t>
            </a:r>
            <a:r>
              <a:rPr lang="en-IN" sz="1700" dirty="0"/>
              <a:t>Prime Scoring Phase (2016–2017)</a:t>
            </a:r>
          </a:p>
          <a:p>
            <a:r>
              <a:rPr lang="en-US" sz="1600" dirty="0"/>
              <a:t>• </a:t>
            </a:r>
            <a:r>
              <a:rPr lang="en-IN" sz="1700" dirty="0"/>
              <a:t>Transitional Phase (2018–2020)</a:t>
            </a:r>
          </a:p>
          <a:p>
            <a:r>
              <a:rPr lang="en-US" sz="1600" dirty="0"/>
              <a:t>• </a:t>
            </a:r>
            <a:r>
              <a:rPr lang="en-IN" sz="1700" dirty="0"/>
              <a:t>Peak International Success (2021–2022)</a:t>
            </a:r>
          </a:p>
          <a:p>
            <a:r>
              <a:rPr lang="en-US" sz="1600" dirty="0"/>
              <a:t>• </a:t>
            </a:r>
            <a:r>
              <a:rPr lang="en-IN" sz="1700" dirty="0"/>
              <a:t>Experienced Leadership Phase (2023–2026)</a:t>
            </a:r>
          </a:p>
          <a:p>
            <a:r>
              <a:rPr lang="en-US" sz="1600" dirty="0"/>
              <a:t>• </a:t>
            </a:r>
            <a:r>
              <a:rPr lang="en-IN" sz="1700" dirty="0"/>
              <a:t>Overall, Messi's career reflects steady development, remarkable consistency during his prime years, and sustained high-level performance over nearly two decades of international football.</a:t>
            </a:r>
          </a:p>
          <a:p>
            <a:pPr>
              <a:buNone/>
            </a:pPr>
            <a:endParaRPr lang="en-IN" sz="17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DCD8FC-4148-2343-951A-8B9F76E3757A}"/>
              </a:ext>
            </a:extLst>
          </p:cNvPr>
          <p:cNvCxnSpPr>
            <a:cxnSpLocks/>
          </p:cNvCxnSpPr>
          <p:nvPr/>
        </p:nvCxnSpPr>
        <p:spPr>
          <a:xfrm>
            <a:off x="865239" y="3598487"/>
            <a:ext cx="6941574" cy="0"/>
          </a:xfrm>
          <a:prstGeom prst="line">
            <a:avLst/>
          </a:prstGeom>
          <a:ln w="12700">
            <a:solidFill>
              <a:schemeClr val="bg1">
                <a:lumMod val="50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B9EF6AB-506B-7282-24ED-18F4DF18A01C}"/>
              </a:ext>
            </a:extLst>
          </p:cNvPr>
          <p:cNvSpPr txBox="1"/>
          <p:nvPr/>
        </p:nvSpPr>
        <p:spPr>
          <a:xfrm>
            <a:off x="3048000" y="3245702"/>
            <a:ext cx="6096000" cy="984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89"/>
              </a:spcBef>
              <a:spcAft>
                <a:spcPts val="1451"/>
              </a:spcAft>
            </a:pPr>
            <a:endParaRPr lang="en-IN" dirty="0"/>
          </a:p>
          <a:p>
            <a:pPr marL="0" marR="0" indent="0" algn="l">
              <a:spcBef>
                <a:spcPts val="1089"/>
              </a:spcBef>
              <a:spcAft>
                <a:spcPts val="1451"/>
              </a:spcAft>
              <a:buNone/>
            </a:pPr>
            <a:endParaRPr lang="en-IN" sz="1814" b="0" i="0" dirty="0">
              <a:effectLst/>
              <a:latin typeface="system-u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181833-C492-00FE-5C53-F647BA23B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17" y="710110"/>
            <a:ext cx="10409822" cy="3588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6708" y="330579"/>
            <a:ext cx="56392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IN" sz="2800" dirty="0"/>
              <a:t>Career Timeline Analysis</a:t>
            </a:r>
            <a:endParaRPr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6708" y="5081126"/>
            <a:ext cx="1013828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Observation:</a:t>
            </a:r>
          </a:p>
          <a:p>
            <a:r>
              <a:rPr lang="en-US" dirty="0"/>
              <a:t>• Lionel Messi scored only </a:t>
            </a:r>
            <a:r>
              <a:rPr lang="en-US" b="1" dirty="0"/>
              <a:t>1 goal </a:t>
            </a:r>
            <a:r>
              <a:rPr lang="en-US" dirty="0"/>
              <a:t>during the beginning of his international career in </a:t>
            </a:r>
            <a:r>
              <a:rPr lang="en-US" b="1" dirty="0"/>
              <a:t>2006</a:t>
            </a:r>
          </a:p>
          <a:p>
            <a:r>
              <a:rPr lang="en-US" dirty="0"/>
              <a:t>• His highest international goal tally came in </a:t>
            </a:r>
            <a:r>
              <a:rPr lang="en-US" b="1" dirty="0"/>
              <a:t>2021</a:t>
            </a:r>
            <a:r>
              <a:rPr lang="en-US" dirty="0"/>
              <a:t>, when he scored </a:t>
            </a:r>
            <a:r>
              <a:rPr lang="en-US" b="1" dirty="0"/>
              <a:t>9 goals</a:t>
            </a:r>
            <a:r>
              <a:rPr lang="en-US" dirty="0"/>
              <a:t>.- </a:t>
            </a:r>
          </a:p>
          <a:p>
            <a:r>
              <a:rPr lang="en-US" dirty="0"/>
              <a:t>• This comparison reflects his remarkable growth, consistency, and evolution into one of football's greatest international goal scorers.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225818-898A-EE7D-6B62-707E55469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63" y="1089801"/>
            <a:ext cx="11248095" cy="3690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9768" y="454476"/>
            <a:ext cx="10515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IN" sz="2400" b="1" dirty="0"/>
              <a:t>Transformational Period Analysis</a:t>
            </a:r>
            <a:endParaRPr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371168" y="5320191"/>
            <a:ext cx="10972800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</a:t>
            </a:r>
            <a:r>
              <a:rPr lang="en-US" sz="1700" dirty="0"/>
              <a:t>The period between </a:t>
            </a:r>
            <a:r>
              <a:rPr lang="en-US" sz="1700" b="1" dirty="0"/>
              <a:t>2020 and 2022 </a:t>
            </a:r>
            <a:r>
              <a:rPr lang="en-US" sz="1700" dirty="0"/>
              <a:t>represents the most significant transformation in Lionel Messi's international career.</a:t>
            </a:r>
          </a:p>
          <a:p>
            <a:r>
              <a:rPr lang="en-US" sz="1600" dirty="0"/>
              <a:t>• </a:t>
            </a:r>
            <a:r>
              <a:rPr lang="en-US" sz="1700" dirty="0"/>
              <a:t>After recording only </a:t>
            </a:r>
            <a:r>
              <a:rPr lang="en-US" sz="1700" b="1" dirty="0"/>
              <a:t>1 international goal in 2020</a:t>
            </a:r>
            <a:r>
              <a:rPr lang="en-US" sz="1700" dirty="0"/>
              <a:t>, Messi's performance improved dramatically, reaching </a:t>
            </a:r>
            <a:r>
              <a:rPr lang="en-US" sz="1700" b="1" dirty="0"/>
              <a:t>9 goals in 2021</a:t>
            </a:r>
            <a:r>
              <a:rPr lang="en-US" sz="1700" dirty="0"/>
              <a:t> and maintaining </a:t>
            </a:r>
            <a:r>
              <a:rPr lang="en-US" sz="1700" b="1" dirty="0"/>
              <a:t>8 goals in 2022</a:t>
            </a:r>
            <a:r>
              <a:rPr lang="en-US" sz="1700" dirty="0"/>
              <a:t>.</a:t>
            </a:r>
          </a:p>
          <a:p>
            <a:r>
              <a:rPr lang="en-US" sz="1600" dirty="0"/>
              <a:t>• </a:t>
            </a:r>
            <a:r>
              <a:rPr lang="en-US" sz="1700" dirty="0"/>
              <a:t>This remarkable rise reflects one of the strongest phases of his international career and highlights his ability to deliver consistently during major international competitions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C8D1E-FAE9-CF2E-23DD-3D54356D3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2" y="1276696"/>
            <a:ext cx="8032954" cy="35902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DB8646-F5CE-4F5C-8CB0-8554FD66D38C}"/>
              </a:ext>
            </a:extLst>
          </p:cNvPr>
          <p:cNvSpPr txBox="1"/>
          <p:nvPr/>
        </p:nvSpPr>
        <p:spPr>
          <a:xfrm>
            <a:off x="9163664" y="400279"/>
            <a:ext cx="289068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Key Career Milestones:</a:t>
            </a:r>
          </a:p>
          <a:p>
            <a:r>
              <a:rPr lang="en-US" sz="1600" dirty="0"/>
              <a:t>• </a:t>
            </a:r>
            <a:r>
              <a:rPr lang="en-IN" sz="1600" dirty="0"/>
              <a:t>Won the </a:t>
            </a:r>
            <a:r>
              <a:rPr lang="en-IN" sz="1600" b="1" dirty="0"/>
              <a:t>2021 Copa America</a:t>
            </a:r>
            <a:r>
              <a:rPr lang="en-IN" sz="1600" dirty="0"/>
              <a:t>, securing his first major international trophy with Argentina.</a:t>
            </a:r>
          </a:p>
          <a:p>
            <a:r>
              <a:rPr lang="en-US" sz="1600" dirty="0"/>
              <a:t>• </a:t>
            </a:r>
            <a:r>
              <a:rPr lang="en-IN" sz="1600" dirty="0"/>
              <a:t>Delivered outstanding performances throughout the tournament and emerged as one of the team's most influential players.</a:t>
            </a:r>
          </a:p>
          <a:p>
            <a:r>
              <a:rPr lang="en-US" sz="1600" dirty="0"/>
              <a:t>• </a:t>
            </a:r>
            <a:r>
              <a:rPr lang="en-IN" sz="1600" dirty="0"/>
              <a:t>Continued this momentum into </a:t>
            </a:r>
            <a:r>
              <a:rPr lang="en-IN" sz="1600" b="1" dirty="0"/>
              <a:t>2022</a:t>
            </a:r>
            <a:r>
              <a:rPr lang="en-IN" sz="1600" dirty="0"/>
              <a:t>, playing a decisive role in Argentina's </a:t>
            </a:r>
            <a:r>
              <a:rPr lang="en-IN" sz="1600" b="1" dirty="0"/>
              <a:t>FIFA World Cup-winning campaign</a:t>
            </a:r>
            <a:r>
              <a:rPr lang="en-IN" sz="1600" dirty="0"/>
              <a:t>.</a:t>
            </a:r>
          </a:p>
          <a:p>
            <a:r>
              <a:rPr lang="en-US" sz="1600" dirty="0"/>
              <a:t>• </a:t>
            </a:r>
            <a:r>
              <a:rPr lang="en-IN" sz="1600" dirty="0"/>
              <a:t>These achievements marked the peak of his international career and strengthened his legacy as one of football's greatest players.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7BD944D-7232-7099-8CB4-2A7D3A261F7A}"/>
              </a:ext>
            </a:extLst>
          </p:cNvPr>
          <p:cNvCxnSpPr>
            <a:cxnSpLocks/>
          </p:cNvCxnSpPr>
          <p:nvPr/>
        </p:nvCxnSpPr>
        <p:spPr>
          <a:xfrm>
            <a:off x="8917858" y="454476"/>
            <a:ext cx="0" cy="4845099"/>
          </a:xfrm>
          <a:prstGeom prst="line">
            <a:avLst/>
          </a:prstGeom>
          <a:ln w="127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861909-FA26-E7DD-EE07-FE672821B6CE}"/>
              </a:ext>
            </a:extLst>
          </p:cNvPr>
          <p:cNvCxnSpPr>
            <a:cxnSpLocks/>
          </p:cNvCxnSpPr>
          <p:nvPr/>
        </p:nvCxnSpPr>
        <p:spPr>
          <a:xfrm>
            <a:off x="8917858" y="5299575"/>
            <a:ext cx="3136490" cy="0"/>
          </a:xfrm>
          <a:prstGeom prst="line">
            <a:avLst/>
          </a:prstGeom>
          <a:ln w="1270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87391" y="211394"/>
            <a:ext cx="5708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US" sz="2400" b="1" dirty="0"/>
              <a:t>Tournament</a:t>
            </a:r>
            <a:r>
              <a:rPr lang="en-US" sz="2000" b="1" dirty="0"/>
              <a:t> Performance Analysis</a:t>
            </a:r>
            <a:endParaRPr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47143" y="4774331"/>
            <a:ext cx="11922842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Lionel Messi scored international goals across three major competitions:</a:t>
            </a:r>
            <a:endParaRPr lang="en-US" sz="1600" dirty="0"/>
          </a:p>
          <a:p>
            <a:r>
              <a:rPr lang="en-US" sz="1600" dirty="0"/>
              <a:t> • </a:t>
            </a:r>
            <a:r>
              <a:rPr lang="en-US" sz="1600" b="1" dirty="0"/>
              <a:t>FIFA World Cup Qualification</a:t>
            </a:r>
            <a:r>
              <a:rPr lang="en-US" sz="1600" dirty="0"/>
              <a:t> was his most productive competition, with </a:t>
            </a:r>
            <a:r>
              <a:rPr lang="en-US" sz="1600" b="1" dirty="0"/>
              <a:t>36 goals</a:t>
            </a:r>
            <a:r>
              <a:rPr lang="en-US" sz="1600" dirty="0"/>
              <a:t>, highlighting his consistent performances during     qualification campaigns.- </a:t>
            </a:r>
          </a:p>
          <a:p>
            <a:r>
              <a:rPr lang="en-US" sz="1600" dirty="0"/>
              <a:t>• He scored </a:t>
            </a:r>
            <a:r>
              <a:rPr lang="en-US" sz="1600" b="1" dirty="0"/>
              <a:t>21 goals in the FIFA World Cup</a:t>
            </a:r>
            <a:r>
              <a:rPr lang="en-US" sz="1600" dirty="0"/>
              <a:t>, demonstrating his ability to perform on football's biggest stage. </a:t>
            </a:r>
          </a:p>
          <a:p>
            <a:r>
              <a:rPr lang="en-US" sz="1600" dirty="0"/>
              <a:t>• In </a:t>
            </a:r>
            <a:r>
              <a:rPr lang="en-US" sz="1600" b="1" dirty="0"/>
              <a:t>Copa América</a:t>
            </a:r>
            <a:r>
              <a:rPr lang="en-US" sz="1600" dirty="0"/>
              <a:t>, Messi registered </a:t>
            </a:r>
            <a:r>
              <a:rPr lang="en-US" sz="1600" b="1" dirty="0"/>
              <a:t>14 goals</a:t>
            </a:r>
            <a:r>
              <a:rPr lang="en-US" sz="1600" dirty="0"/>
              <a:t>, making significant contributions in South America's premier international tournament. Overall, Messi maintained a strong scoring record across both qualification matches and major international tournaments, reflecting his consistency and longevity at the highest level.</a:t>
            </a:r>
            <a:endParaRPr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D9F81-C241-4644-B49E-AD3808EA4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3" y="808477"/>
            <a:ext cx="10352031" cy="38374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2120" y="320595"/>
            <a:ext cx="54688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US" sz="2200" dirty="0">
                <a:solidFill>
                  <a:srgbClr val="00B050"/>
                </a:solidFill>
              </a:rPr>
              <a:t>Home vs Away Performance Analysis</a:t>
            </a:r>
            <a:endParaRPr sz="2200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2120" y="4780508"/>
            <a:ext cx="5706396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Lionel Messi scored </a:t>
            </a:r>
            <a:r>
              <a:rPr lang="en-US" sz="1600" b="1" dirty="0"/>
              <a:t>53 goals in home matches </a:t>
            </a:r>
            <a:r>
              <a:rPr lang="en-US" sz="1600" dirty="0"/>
              <a:t>and </a:t>
            </a:r>
            <a:r>
              <a:rPr lang="en-US" sz="1600" b="1" dirty="0"/>
              <a:t>18 goals in away matches </a:t>
            </a:r>
            <a:r>
              <a:rPr lang="en-US" sz="1600" dirty="0"/>
              <a:t>throughout his international career. </a:t>
            </a:r>
          </a:p>
          <a:p>
            <a:r>
              <a:rPr lang="en-US" sz="1600" dirty="0"/>
              <a:t>The higher goal tally in home fixtures suggests greater attacking productivity in familiar playing conditions. However, his </a:t>
            </a:r>
            <a:r>
              <a:rPr lang="en-US" sz="1600" b="1" dirty="0"/>
              <a:t>18 away goals </a:t>
            </a:r>
            <a:r>
              <a:rPr lang="en-US" sz="1600" dirty="0"/>
              <a:t>demonstrate his ability to consistently perform and contribute even in challenging environments, reflecting his adaptability and world-class consistency across different venues.</a:t>
            </a:r>
            <a:endParaRPr lang="en-IN" dirty="0"/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7D7801-84A1-469F-BCB9-CEC5993C4D1A}"/>
              </a:ext>
            </a:extLst>
          </p:cNvPr>
          <p:cNvSpPr txBox="1"/>
          <p:nvPr/>
        </p:nvSpPr>
        <p:spPr>
          <a:xfrm>
            <a:off x="7754234" y="310776"/>
            <a:ext cx="2564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</a:rPr>
              <a:t>Goal Type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373745-43BD-12CE-E724-E18D6F72F1C5}"/>
              </a:ext>
            </a:extLst>
          </p:cNvPr>
          <p:cNvSpPr txBox="1"/>
          <p:nvPr/>
        </p:nvSpPr>
        <p:spPr>
          <a:xfrm>
            <a:off x="6429560" y="4466525"/>
            <a:ext cx="540970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• Lionel Messi scored the majority of his international goals through </a:t>
            </a:r>
            <a:r>
              <a:rPr lang="en-US" sz="1600" b="1" dirty="0"/>
              <a:t>open play</a:t>
            </a:r>
            <a:r>
              <a:rPr lang="en-US" sz="1600" dirty="0"/>
              <a:t>, with </a:t>
            </a:r>
            <a:r>
              <a:rPr lang="en-US" sz="1600" b="1" dirty="0"/>
              <a:t>57 normal goals</a:t>
            </a:r>
            <a:r>
              <a:rPr lang="en-US" sz="1600" dirty="0"/>
              <a:t>, highlighting his creativity, positioning, and finishing ability.</a:t>
            </a:r>
          </a:p>
          <a:p>
            <a:r>
              <a:rPr lang="en-US" sz="1600" dirty="0"/>
              <a:t>• He also converted </a:t>
            </a:r>
            <a:r>
              <a:rPr lang="en-US" sz="1600" b="1" dirty="0"/>
              <a:t>14 penalty goals</a:t>
            </a:r>
            <a:r>
              <a:rPr lang="en-US" sz="1600" dirty="0"/>
              <a:t>, demonstrating composure and reliability in high-pressure situations. </a:t>
            </a:r>
          </a:p>
          <a:p>
            <a:r>
              <a:rPr lang="en-US" sz="1600" dirty="0"/>
              <a:t>• The distribution indicates that Messi's goal-scoring success has primarily been driven by overall attacking play rather than penalties alone.</a:t>
            </a:r>
            <a:endParaRPr lang="en-IN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9A4C2E0-9E7D-A7FE-9618-3B8EBBEF86FC}"/>
              </a:ext>
            </a:extLst>
          </p:cNvPr>
          <p:cNvCxnSpPr>
            <a:cxnSpLocks/>
          </p:cNvCxnSpPr>
          <p:nvPr/>
        </p:nvCxnSpPr>
        <p:spPr>
          <a:xfrm>
            <a:off x="5997677" y="1002890"/>
            <a:ext cx="0" cy="4070555"/>
          </a:xfrm>
          <a:prstGeom prst="line">
            <a:avLst/>
          </a:prstGeom>
          <a:ln w="6350">
            <a:solidFill>
              <a:schemeClr val="bg1">
                <a:lumMod val="50000"/>
                <a:alpha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FC4450B-71F9-C439-0B65-9555E128E7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4398" y="1215149"/>
            <a:ext cx="5504479" cy="30685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DFC2E24-39A8-A5BF-98F2-F5E7E20FB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93" y="2054942"/>
            <a:ext cx="1616487" cy="13740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C04643-F45D-8204-B6BE-875EEA852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120" y="1215149"/>
            <a:ext cx="5430466" cy="333841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C9A4676-5235-D3E5-62A4-A476E67065A9}"/>
              </a:ext>
            </a:extLst>
          </p:cNvPr>
          <p:cNvSpPr txBox="1"/>
          <p:nvPr/>
        </p:nvSpPr>
        <p:spPr>
          <a:xfrm>
            <a:off x="3933640" y="1215149"/>
            <a:ext cx="16321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IN" sz="1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Total Goals :71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2284" y="5061660"/>
            <a:ext cx="111202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Lionel Messi has scored against a wide range of international opponents, demonstrating his consistency across different competitions. </a:t>
            </a:r>
          </a:p>
          <a:p>
            <a:r>
              <a:rPr lang="en-US" sz="1600" b="1" dirty="0"/>
              <a:t> </a:t>
            </a:r>
            <a:r>
              <a:rPr lang="en-US" sz="1600" dirty="0"/>
              <a:t>• </a:t>
            </a:r>
            <a:r>
              <a:rPr lang="en-US" sz="1600" b="1" dirty="0"/>
              <a:t>Bolivia</a:t>
            </a:r>
            <a:r>
              <a:rPr lang="en-US" sz="1600" dirty="0"/>
              <a:t> was his most successful opponent with </a:t>
            </a:r>
            <a:r>
              <a:rPr lang="en-US" sz="1600" b="1" dirty="0"/>
              <a:t>9 goals</a:t>
            </a:r>
            <a:r>
              <a:rPr lang="en-US" sz="1600" dirty="0"/>
              <a:t>.</a:t>
            </a:r>
          </a:p>
          <a:p>
            <a:r>
              <a:rPr lang="en-US" sz="1600" dirty="0"/>
              <a:t> • He also scored </a:t>
            </a:r>
            <a:r>
              <a:rPr lang="en-US" sz="1600" b="1" dirty="0"/>
              <a:t>7 goals </a:t>
            </a:r>
            <a:r>
              <a:rPr lang="en-US" sz="1600" dirty="0"/>
              <a:t>each against </a:t>
            </a:r>
            <a:r>
              <a:rPr lang="en-US" sz="1600" b="1" dirty="0"/>
              <a:t>Venezuela</a:t>
            </a:r>
            <a:r>
              <a:rPr lang="en-US" sz="1600" dirty="0"/>
              <a:t> and </a:t>
            </a:r>
            <a:r>
              <a:rPr lang="en-US" sz="1600" b="1" dirty="0"/>
              <a:t>Ecuador</a:t>
            </a:r>
            <a:r>
              <a:rPr lang="en-US" sz="1600" dirty="0"/>
              <a:t>.</a:t>
            </a:r>
          </a:p>
          <a:p>
            <a:r>
              <a:rPr lang="en-US" sz="1600" dirty="0"/>
              <a:t> • Strong performances against </a:t>
            </a:r>
            <a:r>
              <a:rPr lang="en-US" sz="1600" b="1" dirty="0"/>
              <a:t>Uruguay</a:t>
            </a:r>
            <a:r>
              <a:rPr lang="en-US" sz="1600" dirty="0"/>
              <a:t>, </a:t>
            </a:r>
            <a:r>
              <a:rPr lang="en-US" sz="1600" b="1" dirty="0"/>
              <a:t>Chile</a:t>
            </a:r>
            <a:r>
              <a:rPr lang="en-US" sz="1600" dirty="0"/>
              <a:t>, and </a:t>
            </a:r>
            <a:r>
              <a:rPr lang="en-US" sz="1600" b="1" dirty="0"/>
              <a:t>Paraguay</a:t>
            </a:r>
            <a:r>
              <a:rPr lang="en-US" sz="1600" dirty="0"/>
              <a:t> further highlight his effectiveness against top South American teams.        This distribution reflects Messi's long-term dominance in CONMEBOL competitions and FIFA World Cup qualification campaigns.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48F0E-1A80-47C3-451E-8DF1E0938226}"/>
              </a:ext>
            </a:extLst>
          </p:cNvPr>
          <p:cNvSpPr txBox="1"/>
          <p:nvPr/>
        </p:nvSpPr>
        <p:spPr>
          <a:xfrm>
            <a:off x="3051444" y="945726"/>
            <a:ext cx="6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DE32C6-0218-556B-0A3E-3767C0FA784B}"/>
              </a:ext>
            </a:extLst>
          </p:cNvPr>
          <p:cNvSpPr txBox="1"/>
          <p:nvPr/>
        </p:nvSpPr>
        <p:spPr>
          <a:xfrm>
            <a:off x="549597" y="159785"/>
            <a:ext cx="3105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</a:rPr>
              <a:t>Opponent Analysis</a:t>
            </a:r>
            <a:endParaRPr lang="en-IN" sz="2800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B0D7A8-E1C3-5F95-DB69-2D9A9E100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46" y="650961"/>
            <a:ext cx="8973704" cy="420827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4453" y="457200"/>
            <a:ext cx="10515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0B981"/>
                </a:solidFill>
                <a:latin typeface="Segoe UI"/>
              </a:defRPr>
            </a:pPr>
            <a:r>
              <a:rPr lang="en-US" dirty="0"/>
              <a:t>	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4453" y="4625726"/>
            <a:ext cx="1100819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Key Insights</a:t>
            </a:r>
            <a:r>
              <a:rPr lang="en-US" sz="1600" dirty="0"/>
              <a:t>:</a:t>
            </a:r>
          </a:p>
          <a:p>
            <a:r>
              <a:rPr lang="en-US" sz="1600" dirty="0"/>
              <a:t> • Messi remained an effective goal scorer throughout the match, contributing in the </a:t>
            </a:r>
            <a:r>
              <a:rPr lang="en-US" sz="1600" b="1" dirty="0"/>
              <a:t>early, middle, and late phases</a:t>
            </a:r>
            <a:r>
              <a:rPr lang="en-US" sz="1600" dirty="0"/>
              <a:t>.</a:t>
            </a:r>
          </a:p>
          <a:p>
            <a:r>
              <a:rPr lang="en-US" sz="1600" dirty="0"/>
              <a:t>• His goal distribution shows that he was capable of creating scoring opportunities regardless of the match stage.</a:t>
            </a:r>
          </a:p>
          <a:p>
            <a:r>
              <a:rPr lang="en-US" sz="1600" dirty="0"/>
              <a:t>• The strong presence in the </a:t>
            </a:r>
            <a:r>
              <a:rPr lang="en-US" sz="1600" b="1" dirty="0"/>
              <a:t>late stages</a:t>
            </a:r>
            <a:r>
              <a:rPr lang="en-US" sz="1600" dirty="0"/>
              <a:t> highlights his ability to influence important moments when matches become more competitive.</a:t>
            </a:r>
          </a:p>
          <a:p>
            <a:r>
              <a:rPr lang="en-US" sz="1600" dirty="0"/>
              <a:t> • The balanced scoring pattern reflects his consistency, tactical awareness, and endurance over the full duration of a game. </a:t>
            </a:r>
          </a:p>
          <a:p>
            <a:r>
              <a:rPr lang="en-US" sz="1600" dirty="0"/>
              <a:t>Messi's goal-scoring pattern demonstrates his ability to remain a constant attacking threat from kickoff until the final whistle, showcasing exceptional consistency and match-winning impact throughout his international career.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1E209B-6F4E-3F06-4670-E2E8673FABFD}"/>
              </a:ext>
            </a:extLst>
          </p:cNvPr>
          <p:cNvSpPr txBox="1"/>
          <p:nvPr/>
        </p:nvSpPr>
        <p:spPr>
          <a:xfrm>
            <a:off x="416252" y="170171"/>
            <a:ext cx="3261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rgbClr val="00B050"/>
                </a:solidFill>
              </a:rPr>
              <a:t>Goal Timing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800CAB-B747-5799-7325-F16663591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93" y="1002887"/>
            <a:ext cx="10531753" cy="36408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6217" y="855895"/>
            <a:ext cx="11279566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•</a:t>
            </a:r>
            <a:r>
              <a:rPr lang="en-US" sz="1600" dirty="0"/>
              <a:t> This analysis provides a comprehensive overview of Lionel Messi's international football career using data-driven insights.</a:t>
            </a:r>
          </a:p>
          <a:p>
            <a:endParaRPr lang="en-US" sz="1600" dirty="0"/>
          </a:p>
          <a:p>
            <a:r>
              <a:rPr lang="en-IN" sz="1600" dirty="0"/>
              <a:t>•</a:t>
            </a:r>
            <a:r>
              <a:rPr lang="en-US" sz="1600" dirty="0"/>
              <a:t> The study highlights Messi's evolution from a young emerging talent to one of the greatest footballers in international history.</a:t>
            </a:r>
          </a:p>
          <a:p>
            <a:endParaRPr lang="en-US" sz="1600" dirty="0"/>
          </a:p>
          <a:p>
            <a:r>
              <a:rPr lang="en-IN" sz="1600" dirty="0"/>
              <a:t>• </a:t>
            </a:r>
            <a:r>
              <a:rPr lang="en-US" sz="1600" dirty="0"/>
              <a:t>The analysis identified key performance areas including:</a:t>
            </a:r>
          </a:p>
          <a:p>
            <a:r>
              <a:rPr lang="en-US" sz="1600" dirty="0"/>
              <a:t>   - Career growth and peak scoring years</a:t>
            </a:r>
          </a:p>
          <a:p>
            <a:r>
              <a:rPr lang="en-US" sz="1600" dirty="0"/>
              <a:t>   - Tournament-wise contributions</a:t>
            </a:r>
          </a:p>
          <a:p>
            <a:r>
              <a:rPr lang="en-US" sz="1600" dirty="0"/>
              <a:t>   - Opponent-wise goal performance</a:t>
            </a:r>
          </a:p>
          <a:p>
            <a:r>
              <a:rPr lang="en-US" sz="1600" dirty="0"/>
              <a:t>   - Home vs away consistency</a:t>
            </a:r>
          </a:p>
          <a:p>
            <a:r>
              <a:rPr lang="en-US" sz="1600" dirty="0"/>
              <a:t>   - Goal timing and scoring patterns</a:t>
            </a:r>
          </a:p>
          <a:p>
            <a:endParaRPr lang="en-US" sz="1600" dirty="0"/>
          </a:p>
          <a:p>
            <a:r>
              <a:rPr lang="en-IN" sz="1600" dirty="0"/>
              <a:t>•</a:t>
            </a:r>
            <a:r>
              <a:rPr lang="en-US" sz="1600" dirty="0"/>
              <a:t> Messi demonstrated exceptional consistency over nearly two decades, maintaining a high level of performance across different competitions and match conditions.</a:t>
            </a:r>
          </a:p>
          <a:p>
            <a:endParaRPr lang="en-US" sz="1600" dirty="0"/>
          </a:p>
          <a:p>
            <a:r>
              <a:rPr lang="en-IN" sz="1600" dirty="0"/>
              <a:t>•</a:t>
            </a:r>
            <a:r>
              <a:rPr lang="en-US" sz="1600" dirty="0"/>
              <a:t> The 2021 Copa America victory and 2022 FIFA World Cup campaign emerged as defining phases of his international career, showcasing his leadership, adaptability, and ability to perform under pressure.</a:t>
            </a:r>
          </a:p>
          <a:p>
            <a:endParaRPr lang="en-US" sz="1600" dirty="0"/>
          </a:p>
          <a:p>
            <a:r>
              <a:rPr lang="en-IN" sz="1600" dirty="0"/>
              <a:t>• </a:t>
            </a:r>
            <a:r>
              <a:rPr lang="en-US" sz="1600" dirty="0"/>
              <a:t>The findings indicate that Messi's success was built on sustained excellence, technical ability, and consistent contribution rather than isolated performances.</a:t>
            </a:r>
          </a:p>
          <a:p>
            <a:endParaRPr lang="en-US" sz="1600" dirty="0"/>
          </a:p>
          <a:p>
            <a:r>
              <a:rPr lang="en-IN" sz="1600" dirty="0"/>
              <a:t>•</a:t>
            </a:r>
            <a:r>
              <a:rPr lang="en-US" sz="1600" dirty="0"/>
              <a:t> Overall, this analysis reinforces Lionel Messi's legacy as one of the most influential and impactful players in modern international football.</a:t>
            </a:r>
            <a:endParaRPr lang="en-IN" sz="1600" dirty="0"/>
          </a:p>
          <a:p>
            <a:pPr>
              <a:spcAft>
                <a:spcPts val="1400"/>
              </a:spcAft>
              <a:defRPr sz="1300">
                <a:solidFill>
                  <a:srgbClr val="1E293B"/>
                </a:solidFill>
                <a:latin typeface="Segoe UI"/>
              </a:defRPr>
            </a:pPr>
            <a:endParaRPr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D9719-641D-A3F5-F426-60EE3BCFC211}"/>
              </a:ext>
            </a:extLst>
          </p:cNvPr>
          <p:cNvSpPr txBox="1"/>
          <p:nvPr/>
        </p:nvSpPr>
        <p:spPr>
          <a:xfrm>
            <a:off x="456217" y="166704"/>
            <a:ext cx="19255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chemeClr val="tx2">
                    <a:lumMod val="50000"/>
                  </a:schemeClr>
                </a:solidFill>
              </a:rPr>
              <a:t>Conclusion</a:t>
            </a:r>
            <a:endParaRPr lang="en-IN" sz="3000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A99481-F988-14D0-3741-C4B204B331FA}"/>
              </a:ext>
            </a:extLst>
          </p:cNvPr>
          <p:cNvCxnSpPr>
            <a:cxnSpLocks/>
          </p:cNvCxnSpPr>
          <p:nvPr/>
        </p:nvCxnSpPr>
        <p:spPr>
          <a:xfrm flipH="1">
            <a:off x="456217" y="6797252"/>
            <a:ext cx="11279566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1143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system-ui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Hareesh Patel</dc:creator>
  <cp:keywords/>
  <dc:description>generated using python-pptx</dc:description>
  <cp:lastModifiedBy>Hareesh Patel</cp:lastModifiedBy>
  <cp:revision>8</cp:revision>
  <dcterms:created xsi:type="dcterms:W3CDTF">2013-01-27T09:14:16Z</dcterms:created>
  <dcterms:modified xsi:type="dcterms:W3CDTF">2026-07-28T21:04:04Z</dcterms:modified>
  <cp:category/>
</cp:coreProperties>
</file>